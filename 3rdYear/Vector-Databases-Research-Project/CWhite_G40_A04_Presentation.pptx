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25"/>
  </p:notesMasterIdLst>
  <p:sldIdLst>
    <p:sldId id="256" r:id="rId2"/>
    <p:sldId id="258" r:id="rId3"/>
    <p:sldId id="257" r:id="rId4"/>
    <p:sldId id="259" r:id="rId5"/>
    <p:sldId id="265" r:id="rId6"/>
    <p:sldId id="268" r:id="rId7"/>
    <p:sldId id="269" r:id="rId8"/>
    <p:sldId id="273" r:id="rId9"/>
    <p:sldId id="274" r:id="rId10"/>
    <p:sldId id="279" r:id="rId11"/>
    <p:sldId id="263" r:id="rId12"/>
    <p:sldId id="281" r:id="rId13"/>
    <p:sldId id="280" r:id="rId14"/>
    <p:sldId id="282" r:id="rId15"/>
    <p:sldId id="275" r:id="rId16"/>
    <p:sldId id="283" r:id="rId17"/>
    <p:sldId id="284" r:id="rId18"/>
    <p:sldId id="285" r:id="rId19"/>
    <p:sldId id="278" r:id="rId20"/>
    <p:sldId id="261" r:id="rId21"/>
    <p:sldId id="264" r:id="rId22"/>
    <p:sldId id="270" r:id="rId23"/>
    <p:sldId id="272" r:id="rId24"/>
  </p:sldIdLst>
  <p:sldSz cx="9144000" cy="5143500" type="screen16x9"/>
  <p:notesSz cx="6858000" cy="9144000"/>
  <p:embeddedFontLst>
    <p:embeddedFont>
      <p:font typeface="Alata" pitchFamily="2" charset="77"/>
      <p:regular r:id="rId26"/>
    </p:embeddedFont>
    <p:embeddedFont>
      <p:font typeface="Anton" pitchFamily="2" charset="7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7"/>
    <p:restoredTop sz="83047"/>
  </p:normalViewPr>
  <p:slideViewPr>
    <p:cSldViewPr snapToGrid="0">
      <p:cViewPr varScale="1">
        <p:scale>
          <a:sx n="240" d="100"/>
          <a:sy n="240" d="100"/>
        </p:scale>
        <p:origin x="25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f931fea1c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" name="Google Shape;49;g2ef931fea1c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f931fea1c_1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Image: https://</a:t>
            </a:r>
            <a:r>
              <a:rPr lang="en-CA" dirty="0" err="1"/>
              <a:t>blog.purestorage.com</a:t>
            </a:r>
            <a:r>
              <a:rPr lang="en-CA" dirty="0"/>
              <a:t>/purely-technical/vector-database-and-storage/</a:t>
            </a:r>
          </a:p>
        </p:txBody>
      </p:sp>
      <p:sp>
        <p:nvSpPr>
          <p:cNvPr id="65" name="Google Shape;65;g2ef931fea1c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f931fea1c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2ef931fea1c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Each piece of data is a vector in a grid, but vector databases can have many more dimensions used to search for data</a:t>
            </a:r>
            <a:br>
              <a:rPr lang="en-CA" dirty="0"/>
            </a:br>
            <a:r>
              <a:rPr lang="en-US" dirty="0"/>
              <a:t>Even unstructured data like images, text, sensor data</a:t>
            </a: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Image: https://</a:t>
            </a:r>
            <a:r>
              <a:rPr lang="en-US" dirty="0" err="1"/>
              <a:t>weaviate.io</a:t>
            </a:r>
            <a:r>
              <a:rPr lang="en-US" dirty="0"/>
              <a:t>/blog/distance-metrics-in-vector-search</a:t>
            </a:r>
            <a:endParaRPr dirty="0"/>
          </a:p>
        </p:txBody>
      </p:sp>
      <p:sp>
        <p:nvSpPr>
          <p:cNvPr id="82" name="Google Shape;82;g2ef931fea1c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f931fea1c_1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Researchers at university designed </a:t>
            </a:r>
            <a:r>
              <a:rPr lang="en-US" dirty="0" err="1"/>
              <a:t>db</a:t>
            </a:r>
            <a:r>
              <a:rPr lang="en-US" dirty="0"/>
              <a:t> to store high dimensional vectors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With ability to query them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Rename to Actian Vector after </a:t>
            </a:r>
            <a:r>
              <a:rPr lang="en-US" dirty="0" err="1"/>
              <a:t>aquired</a:t>
            </a:r>
            <a:endParaRPr dirty="0"/>
          </a:p>
        </p:txBody>
      </p:sp>
      <p:sp>
        <p:nvSpPr>
          <p:cNvPr id="159" name="Google Shape;159;g2ef931fea1c_1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f931fea1c_1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Left Image: https://</a:t>
            </a:r>
            <a:r>
              <a:rPr lang="en-US" dirty="0" err="1"/>
              <a:t>www.vecteezy.com</a:t>
            </a:r>
            <a:r>
              <a:rPr lang="en-US" dirty="0"/>
              <a:t>/free-vector/fingerprint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Middle Image: https://</a:t>
            </a:r>
            <a:r>
              <a:rPr lang="en-CA" dirty="0" err="1"/>
              <a:t>www.grow-force.com</a:t>
            </a:r>
            <a:r>
              <a:rPr lang="en-CA" dirty="0"/>
              <a:t>/product-recommendation/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Right Image: https://</a:t>
            </a:r>
            <a:r>
              <a:rPr lang="en-CA" dirty="0" err="1"/>
              <a:t>www.eschoolnews.com</a:t>
            </a:r>
            <a:r>
              <a:rPr lang="en-CA" dirty="0"/>
              <a:t>/files/2024/04/AI-teaching-guide-training-course-</a:t>
            </a:r>
            <a:r>
              <a:rPr lang="en-CA" dirty="0" err="1"/>
              <a:t>teachers.jpeg</a:t>
            </a:r>
            <a:endParaRPr dirty="0"/>
          </a:p>
        </p:txBody>
      </p:sp>
      <p:sp>
        <p:nvSpPr>
          <p:cNvPr id="190" name="Google Shape;190;g2ef931fea1c_1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f931fea1c_1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Generate vector embeddings before storing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can make them with an LLM like GPT embeddings (</a:t>
            </a:r>
            <a:r>
              <a:rPr lang="en-US" b="0" i="0" dirty="0">
                <a:solidFill>
                  <a:srgbClr val="D9D9E3"/>
                </a:solidFill>
                <a:effectLst/>
                <a:latin typeface="Söhne"/>
              </a:rPr>
              <a:t>text-embedding-3</a:t>
            </a:r>
            <a:r>
              <a:rPr lang="en-CA" dirty="0"/>
              <a:t>) or others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Index the vectors to help with later querying speed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Query database using a chosen algorithm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Post processing may apply to refine results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CA" dirty="0"/>
            </a:br>
            <a:r>
              <a:rPr lang="en-CA" dirty="0"/>
              <a:t>Image: https://</a:t>
            </a:r>
            <a:r>
              <a:rPr lang="en-CA" dirty="0" err="1"/>
              <a:t>www.pinecone.io</a:t>
            </a:r>
            <a:r>
              <a:rPr lang="en-CA" dirty="0"/>
              <a:t>/learn/vector-database/</a:t>
            </a:r>
            <a:endParaRPr dirty="0"/>
          </a:p>
        </p:txBody>
      </p:sp>
      <p:sp>
        <p:nvSpPr>
          <p:cNvPr id="205" name="Google Shape;205;g2ef931fea1c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>
          <a:extLst>
            <a:ext uri="{FF2B5EF4-FFF2-40B4-BE49-F238E27FC236}">
              <a16:creationId xmlns:a16="http://schemas.microsoft.com/office/drawing/2014/main" id="{73DEC81F-BBF0-E454-CA01-7384B7CA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f931fea1c_1_226:notes">
            <a:extLst>
              <a:ext uri="{FF2B5EF4-FFF2-40B4-BE49-F238E27FC236}">
                <a16:creationId xmlns:a16="http://schemas.microsoft.com/office/drawing/2014/main" id="{53B28675-98CD-3D76-A0D9-FD1F63A5D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group fruits into sweet ones (apples, grapes, ripe bananas) and sour ones (oranges, unripe bananas).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If you want a fruit like an apple, you check the sweet group.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But for something specific, like a fruit that’s both sweet and tangy, you’d ask an expert, who can suggest a fruit based on their knowledge.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That expert is like a "vector database."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Image: https://</a:t>
            </a:r>
            <a:r>
              <a:rPr lang="en-CA" dirty="0" err="1"/>
              <a:t>unsplash.com</a:t>
            </a:r>
            <a:r>
              <a:rPr lang="en-CA" dirty="0"/>
              <a:t>/photos/assorted-fruits-at-the-market--gOUx23DNks</a:t>
            </a:r>
            <a:endParaRPr dirty="0"/>
          </a:p>
        </p:txBody>
      </p:sp>
      <p:sp>
        <p:nvSpPr>
          <p:cNvPr id="213" name="Google Shape;213;g2ef931fea1c_1_226:notes">
            <a:extLst>
              <a:ext uri="{FF2B5EF4-FFF2-40B4-BE49-F238E27FC236}">
                <a16:creationId xmlns:a16="http://schemas.microsoft.com/office/drawing/2014/main" id="{27C5AA00-F13D-5579-4D28-002B4A0093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1361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4ABE768-36EF-8ACF-0C5D-710ABB94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0AD6C46F-5E60-4B56-4494-C0F10AE00B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King, queen, prince have similar scores for royalty and girl, queen have similar scores for femininity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So, with a query where you want something like a king without the man part you get a queen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Prince a king are very similar as we can see, age is the only big difference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Image: 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manansuri</a:t>
            </a:r>
            <a:r>
              <a:rPr lang="en-US" dirty="0"/>
              <a:t>/a-dummys-guide-to-word2vec-456444f3c673</a:t>
            </a:r>
            <a:endParaRPr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40CDCBCA-E216-159A-953E-1FAB22E6E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7379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FF99FAC-A770-7733-3AB5-0EBF292F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6BDC8C12-6B7B-8A0C-F20C-B6D4DA779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Similar example, we see bunnies and rabbits are very similar based on these metrics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 but hamster are not too dissimilar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Another example with mother father woman and man can be seen here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Images: https://</a:t>
            </a:r>
            <a:r>
              <a:rPr lang="en-US" dirty="0" err="1"/>
              <a:t>www.datastax.com</a:t>
            </a:r>
            <a:r>
              <a:rPr lang="en-US" dirty="0"/>
              <a:t>/guides/what-is-a-vector-embedding</a:t>
            </a:r>
            <a:endParaRPr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9EBD78F0-9264-52C7-19BA-CB0ED73F7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6861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f931fea1c_1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Creating structures to store data more efficiently to help with querying later 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 will talk about 3 but there are many more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Image: https://</a:t>
            </a:r>
            <a:r>
              <a:rPr lang="en-US" dirty="0" err="1"/>
              <a:t>nanonets.com</a:t>
            </a:r>
            <a:r>
              <a:rPr lang="en-US" dirty="0"/>
              <a:t>/blog/document-indexing/</a:t>
            </a:r>
            <a:endParaRPr dirty="0"/>
          </a:p>
        </p:txBody>
      </p:sp>
      <p:sp>
        <p:nvSpPr>
          <p:cNvPr id="122" name="Google Shape;122;g2ef931fea1c_1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BE6C822-C0D3-E2DC-5109-D96B3DDA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9C165101-223C-9E72-0540-7BC782981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Simplest one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Just store the vector without any processing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Create a simple structure and can make for somewhat accurate results because all vectors considered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Only good for small datasets because they are extremely slow with lots of data</a:t>
            </a:r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C4373D27-EE26-3406-4A84-FA449C4B4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9810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C184625-8EAF-5765-061B-7F7EE81A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0293DAC6-BF60-11FE-E509-53864BF49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Locality Sensitive Hashing (LSH)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is focused on speed and getting answers fast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Less precise because of this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Big trade of in algorithms for indexing and querying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Speed or Accuracy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Hashes vectors and puts them into buckets or sectors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When querying later, once a bucket is found we can narrow search to this sector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Image: https://</a:t>
            </a:r>
            <a:r>
              <a:rPr lang="en-CA" dirty="0" err="1"/>
              <a:t>randorithms.com</a:t>
            </a:r>
            <a:r>
              <a:rPr lang="en-CA" dirty="0"/>
              <a:t>/2019/09/19/Visual-</a:t>
            </a:r>
            <a:r>
              <a:rPr lang="en-CA" dirty="0" err="1"/>
              <a:t>LSH.html</a:t>
            </a:r>
            <a:endParaRPr lang="en-CA"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23B21092-D886-9B3D-C602-98C4963C64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96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A6CEE75-AE18-40C7-5EDB-B0E73F8CD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80D59EE1-43B7-A15C-19B7-47C67516B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structure created is an indexing method and the navigation part is a querying algorithm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So this is a bit of both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But it’s a multi layered structure where the higher layers a sparse a contain different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As we go down the layers more vectors ”appear” and we get more precise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goal is to get to what we are looking for in the least about of hops or holes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It is a very fast and popular algorithm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Images: https://</a:t>
            </a:r>
            <a:r>
              <a:rPr lang="en-US" dirty="0" err="1"/>
              <a:t>www.datastax.com</a:t>
            </a:r>
            <a:r>
              <a:rPr lang="en-US" dirty="0"/>
              <a:t>/guides/what-is-a-vector-index</a:t>
            </a:r>
            <a:endParaRPr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060852E2-94B5-01F3-B682-906335567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9873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F5B98F8-2E7D-4C76-81FF-EA1B4D75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f931fea1c_1_142:notes">
            <a:extLst>
              <a:ext uri="{FF2B5EF4-FFF2-40B4-BE49-F238E27FC236}">
                <a16:creationId xmlns:a16="http://schemas.microsoft.com/office/drawing/2014/main" id="{356FDC71-A9B0-17B8-3BCE-A5ACA0E58B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Used to find data with a certain similarity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Image: https://</a:t>
            </a:r>
            <a:r>
              <a:rPr lang="en-US" dirty="0" err="1"/>
              <a:t>www.elastic.co</a:t>
            </a:r>
            <a:r>
              <a:rPr lang="en-US" dirty="0"/>
              <a:t>/what-is/vector-database</a:t>
            </a:r>
            <a:endParaRPr dirty="0"/>
          </a:p>
        </p:txBody>
      </p:sp>
      <p:sp>
        <p:nvSpPr>
          <p:cNvPr id="122" name="Google Shape;122;g2ef931fea1c_1_142:notes">
            <a:extLst>
              <a:ext uri="{FF2B5EF4-FFF2-40B4-BE49-F238E27FC236}">
                <a16:creationId xmlns:a16="http://schemas.microsoft.com/office/drawing/2014/main" id="{5DFB41B9-BAA4-0F3C-FA39-D233378B5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113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2ABCB55-7C1C-78AF-ECC3-08434F51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3A8ED7BC-B082-62E2-6086-2055B6184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Euclidean = </a:t>
            </a:r>
            <a:r>
              <a:rPr lang="en-CA" dirty="0" err="1"/>
              <a:t>yoo·kli·dee·uhn</a:t>
            </a: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This measures the distance between the ends of vectors to determine their similarity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greater the distance the lower the similarity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Run through example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Images: https://</a:t>
            </a:r>
            <a:r>
              <a:rPr lang="en-US" dirty="0" err="1"/>
              <a:t>zilliz.com</a:t>
            </a:r>
            <a:r>
              <a:rPr lang="en-US" dirty="0"/>
              <a:t>/blog/similarity-metrics-for-vector-search</a:t>
            </a:r>
            <a:endParaRPr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CE53C517-1BF1-B2A4-126B-EAE117017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7028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65D74F9-E907-ED50-5154-855E5554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46FA98DC-CF0D-4519-64AA-5B6E1BB7E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Measures the cosine of the angle between the vectors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smaller the angle means the vectors are more similar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/>
              <a:t>Run through example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Images: https://</a:t>
            </a:r>
            <a:r>
              <a:rPr lang="en-US" dirty="0" err="1"/>
              <a:t>zilliz.com</a:t>
            </a:r>
            <a:r>
              <a:rPr lang="en-US" dirty="0"/>
              <a:t>/blog/similarity-metrics-for-vector-search</a:t>
            </a:r>
            <a:endParaRPr dirty="0"/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568234A3-9F8D-FB70-C90E-188F4326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8277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1B839C7-2DFB-7107-74A7-A6AAA11AA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f931fea1c_1_106:notes">
            <a:extLst>
              <a:ext uri="{FF2B5EF4-FFF2-40B4-BE49-F238E27FC236}">
                <a16:creationId xmlns:a16="http://schemas.microsoft.com/office/drawing/2014/main" id="{DAFDB066-D5D5-22D8-5D23-D34DBCC3E7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Measures how much a vector projects onto another vector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more they point in the same direction the more similar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 higher the output the more similar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Images: https://</a:t>
            </a:r>
            <a:r>
              <a:rPr lang="en-CA" dirty="0" err="1"/>
              <a:t>zilliz.com</a:t>
            </a:r>
            <a:r>
              <a:rPr lang="en-CA" dirty="0"/>
              <a:t>/blog/similarity-metrics-for-vector-search</a:t>
            </a:r>
          </a:p>
        </p:txBody>
      </p:sp>
      <p:sp>
        <p:nvSpPr>
          <p:cNvPr id="82" name="Google Shape;82;g2ef931fea1c_1_106:notes">
            <a:extLst>
              <a:ext uri="{FF2B5EF4-FFF2-40B4-BE49-F238E27FC236}">
                <a16:creationId xmlns:a16="http://schemas.microsoft.com/office/drawing/2014/main" id="{545067BB-9CA0-9F97-58C6-C5C0C3A75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1150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8597CC21-E73B-1F8F-CB5F-0DDAAC39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ef931fea1c_1_196:notes">
            <a:extLst>
              <a:ext uri="{FF2B5EF4-FFF2-40B4-BE49-F238E27FC236}">
                <a16:creationId xmlns:a16="http://schemas.microsoft.com/office/drawing/2014/main" id="{F93840A5-C331-BF31-CCA5-4819466EC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There are some mistakes that are easy to make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Like overlooking some of the data’s metadata that could be used to get more accurate results to a query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Like any other database inefficient queries by the user can also result in terrible performance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Another big issue is they aren’t precise in data fetching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You get similar results but not a definitive result, you get hypotheses not answers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To answer my original question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They won’t replace other databases like relational databases or document databases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Each have their strengths and weaknesses and should be used together for best results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Image: https://</a:t>
            </a:r>
            <a:r>
              <a:rPr lang="en-US" dirty="0" err="1"/>
              <a:t>www.vecteezy.com</a:t>
            </a:r>
            <a:r>
              <a:rPr lang="en-US" dirty="0"/>
              <a:t>/vector-art/5011685-database-error-icon-illustration</a:t>
            </a:r>
            <a:endParaRPr dirty="0"/>
          </a:p>
        </p:txBody>
      </p:sp>
      <p:sp>
        <p:nvSpPr>
          <p:cNvPr id="180" name="Google Shape;180;g2ef931fea1c_1_196:notes">
            <a:extLst>
              <a:ext uri="{FF2B5EF4-FFF2-40B4-BE49-F238E27FC236}">
                <a16:creationId xmlns:a16="http://schemas.microsoft.com/office/drawing/2014/main" id="{CB26FABF-F77A-7DF9-ABCF-9DEADC0E0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368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f931fea1c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Better querying algorithms =&gt; especial those that can improve precision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Complex pattern matching =&gt; fraud detection or other anomalies where its hard for person to see the pattern or lack of pattern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CA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CA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Image: https://</a:t>
            </a:r>
            <a:r>
              <a:rPr lang="en-CA" b="0" i="0" u="none" strike="noStrike" cap="none" dirty="0" err="1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dribbble.com</a:t>
            </a:r>
            <a:r>
              <a:rPr lang="en-CA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/tags/future-illustration</a:t>
            </a:r>
          </a:p>
        </p:txBody>
      </p:sp>
      <p:sp>
        <p:nvSpPr>
          <p:cNvPr id="102" name="Google Shape;102;g2ef931fea1c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f931fea1c_1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 1: https://</a:t>
            </a:r>
            <a:r>
              <a:rPr lang="en-CA" dirty="0" err="1"/>
              <a:t>weaviate.io</a:t>
            </a:r>
            <a:r>
              <a:rPr lang="en-CA" dirty="0"/>
              <a:t>/blog/vector-embeddings-explained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Image 2: https://</a:t>
            </a:r>
            <a:r>
              <a:rPr lang="en-CA" dirty="0" err="1"/>
              <a:t>www.pinecone.io</a:t>
            </a:r>
            <a:r>
              <a:rPr lang="en-CA" dirty="0"/>
              <a:t>/learn/series/</a:t>
            </a:r>
            <a:r>
              <a:rPr lang="en-CA" dirty="0" err="1"/>
              <a:t>faiss</a:t>
            </a:r>
            <a:r>
              <a:rPr lang="en-CA" dirty="0"/>
              <a:t>/</a:t>
            </a:r>
            <a:r>
              <a:rPr lang="en-CA" dirty="0" err="1"/>
              <a:t>hnsw</a:t>
            </a:r>
            <a:r>
              <a:rPr lang="en-CA" dirty="0"/>
              <a:t>/</a:t>
            </a:r>
            <a:br>
              <a:rPr lang="en-CA" dirty="0"/>
            </a:br>
            <a:r>
              <a:rPr lang="en-CA" dirty="0"/>
              <a:t>Image 3: https://</a:t>
            </a:r>
            <a:r>
              <a:rPr lang="en-CA" dirty="0" err="1"/>
              <a:t>www.pexels.com</a:t>
            </a:r>
            <a:r>
              <a:rPr lang="en-CA" dirty="0"/>
              <a:t>/photo/an-artist-s-illustration-of-artificial-intelligence-ai-this-image-depicts-the-process-used-by-text-to-image-diffusion-models-it-was-created-by-linus-zoll-as-part-of-the-visualising-ai-18069157/</a:t>
            </a:r>
            <a:br>
              <a:rPr lang="en-CA" dirty="0"/>
            </a:br>
            <a:r>
              <a:rPr lang="en-CA" dirty="0"/>
              <a:t>Image 4: https://</a:t>
            </a:r>
            <a:r>
              <a:rPr lang="en-CA" dirty="0" err="1"/>
              <a:t>pixabay.com</a:t>
            </a:r>
            <a:r>
              <a:rPr lang="en-CA" dirty="0"/>
              <a:t>/vectors/watch-mechanism-time-gears-1277873/</a:t>
            </a:r>
            <a:endParaRPr dirty="0"/>
          </a:p>
        </p:txBody>
      </p:sp>
      <p:sp>
        <p:nvSpPr>
          <p:cNvPr id="129" name="Google Shape;129;g2ef931fea1c_1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ef931fea1c_1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ef931fea1c_1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f931fea1c_1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ef931fea1c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>
            <a:spLocks noGrp="1"/>
          </p:cNvSpPr>
          <p:nvPr>
            <p:ph type="pic" idx="5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inecone.io/learn/vector-database" TargetMode="External"/><Relationship Id="rId13" Type="http://schemas.openxmlformats.org/officeDocument/2006/relationships/hyperlink" Target="https://www.elastic.co/what-is/vector-database" TargetMode="External"/><Relationship Id="rId3" Type="http://schemas.openxmlformats.org/officeDocument/2006/relationships/hyperlink" Target="https://dagshub.com/blog/common-pitfalls-to-avoid-when-using-vector-databases" TargetMode="External"/><Relationship Id="rId7" Type="http://schemas.openxmlformats.org/officeDocument/2006/relationships/hyperlink" Target="https://www.datastax.com/guides/what-is-a-vector-embedding" TargetMode="External"/><Relationship Id="rId12" Type="http://schemas.openxmlformats.org/officeDocument/2006/relationships/hyperlink" Target="https://medium.com/@wtaisen/hnsw-indexing-in-vector-databases-simple-explanation-and-code-3ef59d9c1920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eaviate.io/blog/distance-metrics-in-vector-search" TargetMode="External"/><Relationship Id="rId11" Type="http://schemas.openxmlformats.org/officeDocument/2006/relationships/hyperlink" Target="https://medium.com/@manansuri/a-dummys-guide-to-word2vec-456444f3c673" TargetMode="External"/><Relationship Id="rId5" Type="http://schemas.openxmlformats.org/officeDocument/2006/relationships/hyperlink" Target="https://medium.com/@mehar.chand.cloud/understanding-vector-databases-the-key-to-scaling-ai-and-search-692ac2c7f3d3" TargetMode="External"/><Relationship Id="rId10" Type="http://schemas.openxmlformats.org/officeDocument/2006/relationships/hyperlink" Target="https://www.linkedin.com/pulse/why-vector-databases-now-hot-topic-abhishek-soni-fvacc" TargetMode="External"/><Relationship Id="rId4" Type="http://schemas.openxmlformats.org/officeDocument/2006/relationships/hyperlink" Target="https://dev.to/pavanbelagatti/wtf-is-a-vector-database-a-beginners-guide-16p" TargetMode="External"/><Relationship Id="rId9" Type="http://schemas.openxmlformats.org/officeDocument/2006/relationships/hyperlink" Target="https://zilliz.com/blog/similarity-metrics-for-vector-sear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/>
        </p:nvSpPr>
        <p:spPr>
          <a:xfrm>
            <a:off x="1889550" y="1499677"/>
            <a:ext cx="536490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Vector Databases</a:t>
            </a:r>
            <a:endParaRPr sz="8000" dirty="0"/>
          </a:p>
        </p:txBody>
      </p:sp>
      <p:sp>
        <p:nvSpPr>
          <p:cNvPr id="52" name="Google Shape;52;p11"/>
          <p:cNvSpPr txBox="1"/>
          <p:nvPr/>
        </p:nvSpPr>
        <p:spPr>
          <a:xfrm>
            <a:off x="514350" y="344488"/>
            <a:ext cx="1375200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Claude White</a:t>
            </a:r>
            <a:endParaRPr sz="700" dirty="0"/>
          </a:p>
        </p:txBody>
      </p:sp>
      <p:sp>
        <p:nvSpPr>
          <p:cNvPr id="53" name="Google Shape;53;p11"/>
          <p:cNvSpPr txBox="1"/>
          <p:nvPr/>
        </p:nvSpPr>
        <p:spPr>
          <a:xfrm>
            <a:off x="514349" y="4638675"/>
            <a:ext cx="1375199" cy="16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Advanced Topics 1</a:t>
            </a:r>
            <a:endParaRPr sz="700" dirty="0"/>
          </a:p>
        </p:txBody>
      </p:sp>
      <p:sp>
        <p:nvSpPr>
          <p:cNvPr id="54" name="Google Shape;54;p11"/>
          <p:cNvSpPr txBox="1"/>
          <p:nvPr/>
        </p:nvSpPr>
        <p:spPr>
          <a:xfrm>
            <a:off x="7254450" y="363407"/>
            <a:ext cx="1375201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Katrina Butler</a:t>
            </a:r>
            <a:endParaRPr sz="700" dirty="0"/>
          </a:p>
        </p:txBody>
      </p:sp>
      <p:sp>
        <p:nvSpPr>
          <p:cNvPr id="2" name="Google Shape;53;p11">
            <a:extLst>
              <a:ext uri="{FF2B5EF4-FFF2-40B4-BE49-F238E27FC236}">
                <a16:creationId xmlns:a16="http://schemas.microsoft.com/office/drawing/2014/main" id="{431F1CE4-1937-22AB-6BB9-87EB24043A20}"/>
              </a:ext>
            </a:extLst>
          </p:cNvPr>
          <p:cNvSpPr txBox="1"/>
          <p:nvPr/>
        </p:nvSpPr>
        <p:spPr>
          <a:xfrm>
            <a:off x="7254450" y="4640695"/>
            <a:ext cx="1375201" cy="16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December 6</a:t>
            </a:r>
            <a:r>
              <a:rPr lang="en" sz="1000" baseline="300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th</a:t>
            </a:r>
            <a:r>
              <a:rPr lang="en" sz="10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, 2024</a:t>
            </a:r>
            <a:endParaRPr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9888B-86A5-4E39-9712-5B9A53E5A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83" r="17683"/>
          <a:stretch/>
        </p:blipFill>
        <p:spPr>
          <a:xfrm>
            <a:off x="871880" y="1487062"/>
            <a:ext cx="2917075" cy="2917120"/>
          </a:xfrm>
          <a:prstGeom prst="rect">
            <a:avLst/>
          </a:prstGeom>
        </p:spPr>
      </p:pic>
      <p:sp>
        <p:nvSpPr>
          <p:cNvPr id="68" name="Google Shape;68;p13"/>
          <p:cNvSpPr txBox="1"/>
          <p:nvPr/>
        </p:nvSpPr>
        <p:spPr>
          <a:xfrm>
            <a:off x="423310" y="758839"/>
            <a:ext cx="3814218" cy="100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AGENDA</a:t>
            </a:r>
            <a:endParaRPr sz="700" dirty="0"/>
          </a:p>
        </p:txBody>
      </p:sp>
      <p:grpSp>
        <p:nvGrpSpPr>
          <p:cNvPr id="69" name="Google Shape;69;p13"/>
          <p:cNvGrpSpPr/>
          <p:nvPr/>
        </p:nvGrpSpPr>
        <p:grpSpPr>
          <a:xfrm>
            <a:off x="4346770" y="1930716"/>
            <a:ext cx="4376975" cy="2655060"/>
            <a:chOff x="0" y="19050"/>
            <a:chExt cx="11671932" cy="7080161"/>
          </a:xfrm>
        </p:grpSpPr>
        <p:sp>
          <p:nvSpPr>
            <p:cNvPr id="70" name="Google Shape;70;p13"/>
            <p:cNvSpPr txBox="1"/>
            <p:nvPr/>
          </p:nvSpPr>
          <p:spPr>
            <a:xfrm>
              <a:off x="0" y="19050"/>
              <a:ext cx="46141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Main Question</a:t>
              </a:r>
              <a:endParaRPr sz="700" dirty="0"/>
            </a:p>
          </p:txBody>
        </p:sp>
        <p:sp>
          <p:nvSpPr>
            <p:cNvPr id="71" name="Google Shape;71;p13"/>
            <p:cNvSpPr txBox="1"/>
            <p:nvPr/>
          </p:nvSpPr>
          <p:spPr>
            <a:xfrm>
              <a:off x="0" y="1351450"/>
              <a:ext cx="46141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Vector Database</a:t>
              </a:r>
              <a:endParaRPr sz="700" dirty="0"/>
            </a:p>
          </p:txBody>
        </p:sp>
        <p:sp>
          <p:nvSpPr>
            <p:cNvPr id="72" name="Google Shape;72;p13"/>
            <p:cNvSpPr txBox="1"/>
            <p:nvPr/>
          </p:nvSpPr>
          <p:spPr>
            <a:xfrm>
              <a:off x="0" y="2683847"/>
              <a:ext cx="46141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Background</a:t>
              </a:r>
              <a:endParaRPr sz="700" dirty="0"/>
            </a:p>
          </p:txBody>
        </p:sp>
        <p:sp>
          <p:nvSpPr>
            <p:cNvPr id="73" name="Google Shape;73;p13"/>
            <p:cNvSpPr txBox="1"/>
            <p:nvPr/>
          </p:nvSpPr>
          <p:spPr>
            <a:xfrm>
              <a:off x="0" y="4016247"/>
              <a:ext cx="46141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Current Uses</a:t>
              </a:r>
              <a:endParaRPr sz="700" dirty="0"/>
            </a:p>
          </p:txBody>
        </p:sp>
        <p:sp>
          <p:nvSpPr>
            <p:cNvPr id="74" name="Google Shape;74;p13"/>
            <p:cNvSpPr txBox="1"/>
            <p:nvPr/>
          </p:nvSpPr>
          <p:spPr>
            <a:xfrm>
              <a:off x="0" y="5348647"/>
              <a:ext cx="42839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Ho</a:t>
              </a:r>
              <a:r>
                <a:rPr lang="en-US" sz="1000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w it works</a:t>
              </a:r>
              <a:endParaRPr lang="en-US" sz="700" dirty="0"/>
            </a:p>
          </p:txBody>
        </p:sp>
        <p:sp>
          <p:nvSpPr>
            <p:cNvPr id="75" name="Google Shape;75;p13"/>
            <p:cNvSpPr txBox="1"/>
            <p:nvPr/>
          </p:nvSpPr>
          <p:spPr>
            <a:xfrm>
              <a:off x="6868359" y="19050"/>
              <a:ext cx="4803573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Indexing</a:t>
              </a:r>
              <a:endParaRPr lang="en-US" sz="700" dirty="0"/>
            </a:p>
          </p:txBody>
        </p:sp>
        <p:sp>
          <p:nvSpPr>
            <p:cNvPr id="76" name="Google Shape;76;p13"/>
            <p:cNvSpPr txBox="1"/>
            <p:nvPr/>
          </p:nvSpPr>
          <p:spPr>
            <a:xfrm>
              <a:off x="6868359" y="1351450"/>
              <a:ext cx="4803573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Querying Algorithms</a:t>
              </a:r>
              <a:endParaRPr sz="700" dirty="0"/>
            </a:p>
          </p:txBody>
        </p:sp>
        <p:sp>
          <p:nvSpPr>
            <p:cNvPr id="78" name="Google Shape;78;p13"/>
            <p:cNvSpPr txBox="1"/>
            <p:nvPr/>
          </p:nvSpPr>
          <p:spPr>
            <a:xfrm>
              <a:off x="6868359" y="2700677"/>
              <a:ext cx="4803573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191515"/>
                  </a:solidFill>
                  <a:latin typeface="Alata"/>
                  <a:cs typeface="Alata"/>
                  <a:sym typeface="Alata"/>
                </a:rPr>
                <a:t>Current Issues</a:t>
              </a:r>
              <a:endParaRPr sz="700" dirty="0"/>
            </a:p>
          </p:txBody>
        </p:sp>
        <p:sp>
          <p:nvSpPr>
            <p:cNvPr id="79" name="Google Shape;79;p13"/>
            <p:cNvSpPr txBox="1"/>
            <p:nvPr/>
          </p:nvSpPr>
          <p:spPr>
            <a:xfrm>
              <a:off x="6868359" y="4033077"/>
              <a:ext cx="4803573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Future of Vector Databases</a:t>
              </a:r>
              <a:endParaRPr sz="700" dirty="0"/>
            </a:p>
          </p:txBody>
        </p:sp>
        <p:sp>
          <p:nvSpPr>
            <p:cNvPr id="2" name="Google Shape;79;p13">
              <a:extLst>
                <a:ext uri="{FF2B5EF4-FFF2-40B4-BE49-F238E27FC236}">
                  <a16:creationId xmlns:a16="http://schemas.microsoft.com/office/drawing/2014/main" id="{7128FC9B-D4A7-C5A4-4A0A-AB2C4A263B74}"/>
                </a:ext>
              </a:extLst>
            </p:cNvPr>
            <p:cNvSpPr txBox="1"/>
            <p:nvPr/>
          </p:nvSpPr>
          <p:spPr>
            <a:xfrm>
              <a:off x="0" y="6664219"/>
              <a:ext cx="4283994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 dirty="0">
                  <a:solidFill>
                    <a:srgbClr val="191515"/>
                  </a:solidFill>
                  <a:latin typeface="Alata"/>
                  <a:ea typeface="Alata"/>
                  <a:cs typeface="Alata"/>
                  <a:sym typeface="Alata"/>
                </a:rPr>
                <a:t>Vector Embeddings</a:t>
              </a:r>
              <a:endParaRPr sz="700" dirty="0"/>
            </a:p>
          </p:txBody>
        </p:sp>
        <p:sp>
          <p:nvSpPr>
            <p:cNvPr id="4" name="Google Shape;79;p13">
              <a:extLst>
                <a:ext uri="{FF2B5EF4-FFF2-40B4-BE49-F238E27FC236}">
                  <a16:creationId xmlns:a16="http://schemas.microsoft.com/office/drawing/2014/main" id="{9C2E834E-44D3-4E69-2AAC-493DD0B1AF46}"/>
                </a:ext>
              </a:extLst>
            </p:cNvPr>
            <p:cNvSpPr txBox="1"/>
            <p:nvPr/>
          </p:nvSpPr>
          <p:spPr>
            <a:xfrm>
              <a:off x="6868357" y="5348648"/>
              <a:ext cx="4803570" cy="434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05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dirty="0">
                  <a:solidFill>
                    <a:srgbClr val="191515"/>
                  </a:solidFill>
                  <a:latin typeface="Alata"/>
                  <a:cs typeface="Alata"/>
                  <a:sym typeface="Alata"/>
                </a:rPr>
                <a:t>Summary</a:t>
              </a:r>
              <a:endParaRPr sz="7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/>
        </p:nvSpPr>
        <p:spPr>
          <a:xfrm>
            <a:off x="1927005" y="1556087"/>
            <a:ext cx="528999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Are vector databases going to replace all other databases?</a:t>
            </a:r>
            <a:endParaRPr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/>
        </p:nvSpPr>
        <p:spPr>
          <a:xfrm>
            <a:off x="514350" y="516133"/>
            <a:ext cx="56700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Vector Database</a:t>
            </a:r>
            <a:endParaRPr sz="70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3706950" y="1989112"/>
            <a:ext cx="49227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Efficient data storage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Unstructured data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Information searching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Compare data of all types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Data stored as vectors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N number of dimensions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Similarity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Approximate Nearest Neighbor (ANN)</a:t>
            </a:r>
          </a:p>
        </p:txBody>
      </p:sp>
      <p:pic>
        <p:nvPicPr>
          <p:cNvPr id="1026" name="Picture 2" descr="Vectors Example">
            <a:extLst>
              <a:ext uri="{FF2B5EF4-FFF2-40B4-BE49-F238E27FC236}">
                <a16:creationId xmlns:a16="http://schemas.microsoft.com/office/drawing/2014/main" id="{25182307-AC04-D25B-850E-D3D812329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989112"/>
            <a:ext cx="2917075" cy="2406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514350" y="516133"/>
            <a:ext cx="463112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Background</a:t>
            </a:r>
            <a:endParaRPr sz="700" dirty="0"/>
          </a:p>
        </p:txBody>
      </p:sp>
      <p:sp>
        <p:nvSpPr>
          <p:cNvPr id="162" name="Google Shape;162;p20"/>
          <p:cNvSpPr txBox="1"/>
          <p:nvPr/>
        </p:nvSpPr>
        <p:spPr>
          <a:xfrm>
            <a:off x="514350" y="2367924"/>
            <a:ext cx="69617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2000s</a:t>
            </a:r>
            <a:endParaRPr sz="700" dirty="0"/>
          </a:p>
        </p:txBody>
      </p:sp>
      <p:sp>
        <p:nvSpPr>
          <p:cNvPr id="163" name="Google Shape;163;p20"/>
          <p:cNvSpPr txBox="1"/>
          <p:nvPr/>
        </p:nvSpPr>
        <p:spPr>
          <a:xfrm>
            <a:off x="3380688" y="2367924"/>
            <a:ext cx="69617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2010</a:t>
            </a:r>
            <a:endParaRPr lang="en-US" sz="700" dirty="0"/>
          </a:p>
        </p:txBody>
      </p:sp>
      <p:sp>
        <p:nvSpPr>
          <p:cNvPr id="164" name="Google Shape;164;p20"/>
          <p:cNvSpPr txBox="1"/>
          <p:nvPr/>
        </p:nvSpPr>
        <p:spPr>
          <a:xfrm>
            <a:off x="6247027" y="2367924"/>
            <a:ext cx="69617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2011</a:t>
            </a:r>
            <a:endParaRPr sz="700" dirty="0"/>
          </a:p>
        </p:txBody>
      </p:sp>
      <p:sp>
        <p:nvSpPr>
          <p:cNvPr id="165" name="Google Shape;165;p20"/>
          <p:cNvSpPr txBox="1"/>
          <p:nvPr/>
        </p:nvSpPr>
        <p:spPr>
          <a:xfrm>
            <a:off x="1210523" y="2358399"/>
            <a:ext cx="16866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University of California, Berkeley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D</a:t>
            </a:r>
            <a:r>
              <a:rPr lang="en-US" sz="12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esigned to store high-dimensional vectors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Ability to query vectors</a:t>
            </a:r>
            <a:endParaRPr lang="en-US" sz="1200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076862" y="2358399"/>
            <a:ext cx="16866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First commercial Vector DB</a:t>
            </a:r>
            <a:endParaRPr lang="en-US" sz="1200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Vector</a:t>
            </a:r>
            <a:r>
              <a:rPr lang="en-US" sz="1200" dirty="0" err="1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Wise</a:t>
            </a:r>
            <a:endParaRPr lang="en-US" sz="1200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Research Project: X100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Inte</a:t>
            </a: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grated in Ingres SQL</a:t>
            </a:r>
          </a:p>
        </p:txBody>
      </p:sp>
      <p:sp>
        <p:nvSpPr>
          <p:cNvPr id="167" name="Google Shape;167;p20"/>
          <p:cNvSpPr txBox="1"/>
          <p:nvPr/>
        </p:nvSpPr>
        <p:spPr>
          <a:xfrm>
            <a:off x="6943200" y="2358399"/>
            <a:ext cx="1686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 err="1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VectorWise</a:t>
            </a:r>
            <a:r>
              <a:rPr lang="en-US" sz="12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 acquired by Actian</a:t>
            </a:r>
          </a:p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Data analytics company</a:t>
            </a:r>
            <a:endParaRPr lang="en-US" sz="1200" b="0" i="0" u="none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/>
        </p:nvSpPr>
        <p:spPr>
          <a:xfrm>
            <a:off x="514350" y="4627367"/>
            <a:ext cx="1198164" cy="391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Personalized User Experiences</a:t>
            </a:r>
            <a:endParaRPr sz="700" dirty="0"/>
          </a:p>
        </p:txBody>
      </p:sp>
      <p:sp>
        <p:nvSpPr>
          <p:cNvPr id="196" name="Google Shape;196;p23"/>
          <p:cNvSpPr txBox="1"/>
          <p:nvPr/>
        </p:nvSpPr>
        <p:spPr>
          <a:xfrm>
            <a:off x="1451344" y="4611202"/>
            <a:ext cx="151610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Customer satisfaction based on preferences</a:t>
            </a:r>
          </a:p>
          <a:p>
            <a: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Netflix show suggestions</a:t>
            </a:r>
            <a:endParaRPr sz="700" dirty="0"/>
          </a:p>
        </p:txBody>
      </p:sp>
      <p:sp>
        <p:nvSpPr>
          <p:cNvPr id="197" name="Google Shape;197;p23"/>
          <p:cNvSpPr txBox="1"/>
          <p:nvPr/>
        </p:nvSpPr>
        <p:spPr>
          <a:xfrm>
            <a:off x="3345509" y="4627367"/>
            <a:ext cx="1198164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LLMs</a:t>
            </a:r>
            <a:endParaRPr lang="en-US" sz="700" dirty="0"/>
          </a:p>
        </p:txBody>
      </p:sp>
      <p:sp>
        <p:nvSpPr>
          <p:cNvPr id="198" name="Google Shape;198;p23"/>
          <p:cNvSpPr txBox="1"/>
          <p:nvPr/>
        </p:nvSpPr>
        <p:spPr>
          <a:xfrm>
            <a:off x="4621705" y="4614863"/>
            <a:ext cx="1176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High performance similarity searching</a:t>
            </a:r>
            <a:endParaRPr lang="en-US" sz="700" dirty="0"/>
          </a:p>
        </p:txBody>
      </p:sp>
      <p:sp>
        <p:nvSpPr>
          <p:cNvPr id="199" name="Google Shape;199;p23"/>
          <p:cNvSpPr txBox="1"/>
          <p:nvPr/>
        </p:nvSpPr>
        <p:spPr>
          <a:xfrm>
            <a:off x="6176675" y="4631587"/>
            <a:ext cx="1198164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106002"/>
              </a:lnSpc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Product Discovery</a:t>
            </a:r>
            <a:endParaRPr lang="en-US" sz="700" dirty="0"/>
          </a:p>
        </p:txBody>
      </p:sp>
      <p:sp>
        <p:nvSpPr>
          <p:cNvPr id="200" name="Google Shape;200;p23"/>
          <p:cNvSpPr txBox="1"/>
          <p:nvPr/>
        </p:nvSpPr>
        <p:spPr>
          <a:xfrm>
            <a:off x="7452863" y="4614863"/>
            <a:ext cx="11769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Recommendations based on customer interactions</a:t>
            </a:r>
          </a:p>
        </p:txBody>
      </p:sp>
      <p:sp>
        <p:nvSpPr>
          <p:cNvPr id="201" name="Google Shape;201;p23"/>
          <p:cNvSpPr txBox="1"/>
          <p:nvPr/>
        </p:nvSpPr>
        <p:spPr>
          <a:xfrm>
            <a:off x="514350" y="516133"/>
            <a:ext cx="463112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Current Uses</a:t>
            </a:r>
            <a:endParaRPr sz="700" dirty="0"/>
          </a:p>
        </p:txBody>
      </p:sp>
      <p:pic>
        <p:nvPicPr>
          <p:cNvPr id="5" name="Picture 4" descr="A fingerprint on a white background&#10;&#10;Description automatically generated">
            <a:extLst>
              <a:ext uri="{FF2B5EF4-FFF2-40B4-BE49-F238E27FC236}">
                <a16:creationId xmlns:a16="http://schemas.microsoft.com/office/drawing/2014/main" id="{4A9FAC88-82A9-8578-921D-A108A1B121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9" r="4699"/>
          <a:stretch/>
        </p:blipFill>
        <p:spPr>
          <a:xfrm>
            <a:off x="514349" y="1676613"/>
            <a:ext cx="2452976" cy="2707428"/>
          </a:xfrm>
          <a:prstGeom prst="rect">
            <a:avLst/>
          </a:prstGeom>
        </p:spPr>
      </p:pic>
      <p:pic>
        <p:nvPicPr>
          <p:cNvPr id="14" name="Picture 13" descr="A light bulb with circuit board&#10;&#10;Description automatically generated">
            <a:extLst>
              <a:ext uri="{FF2B5EF4-FFF2-40B4-BE49-F238E27FC236}">
                <a16:creationId xmlns:a16="http://schemas.microsoft.com/office/drawing/2014/main" id="{B744CD61-7E88-ACB7-2A77-7A8AF1A62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60" r="5260" b="2389"/>
          <a:stretch/>
        </p:blipFill>
        <p:spPr>
          <a:xfrm>
            <a:off x="3345524" y="1673092"/>
            <a:ext cx="2452976" cy="2708934"/>
          </a:xfrm>
          <a:prstGeom prst="rect">
            <a:avLst/>
          </a:prstGeom>
        </p:spPr>
      </p:pic>
      <p:pic>
        <p:nvPicPr>
          <p:cNvPr id="15" name="Picture 4" descr="Product recommendation strategies">
            <a:extLst>
              <a:ext uri="{FF2B5EF4-FFF2-40B4-BE49-F238E27FC236}">
                <a16:creationId xmlns:a16="http://schemas.microsoft.com/office/drawing/2014/main" id="{222F7B05-9AAB-9D3A-850C-87B4AB23B9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95" t="10476" r="18205" b="9698"/>
          <a:stretch/>
        </p:blipFill>
        <p:spPr bwMode="auto">
          <a:xfrm>
            <a:off x="6176675" y="1670853"/>
            <a:ext cx="2453000" cy="271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/>
        </p:nvSpPr>
        <p:spPr>
          <a:xfrm>
            <a:off x="595250" y="400050"/>
            <a:ext cx="46625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How it Works</a:t>
            </a:r>
          </a:p>
        </p:txBody>
      </p:sp>
      <p:sp>
        <p:nvSpPr>
          <p:cNvPr id="209" name="Google Shape;209;p24"/>
          <p:cNvSpPr txBox="1"/>
          <p:nvPr/>
        </p:nvSpPr>
        <p:spPr>
          <a:xfrm>
            <a:off x="651979" y="1720451"/>
            <a:ext cx="3602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Generates Vector Embeddings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Indexes the vectors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Stores vectors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Query with algorithms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Post Processing to refine output</a:t>
            </a:r>
          </a:p>
        </p:txBody>
      </p:sp>
      <p:pic>
        <p:nvPicPr>
          <p:cNvPr id="3" name="Picture 2" descr="A diagram of a cylinder&#10;&#10;Description automatically generated">
            <a:extLst>
              <a:ext uri="{FF2B5EF4-FFF2-40B4-BE49-F238E27FC236}">
                <a16:creationId xmlns:a16="http://schemas.microsoft.com/office/drawing/2014/main" id="{AFDF3B75-69AF-5575-52C9-92CC474BB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29" y="3357858"/>
            <a:ext cx="7772400" cy="13855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214">
          <a:extLst>
            <a:ext uri="{FF2B5EF4-FFF2-40B4-BE49-F238E27FC236}">
              <a16:creationId xmlns:a16="http://schemas.microsoft.com/office/drawing/2014/main" id="{65C51F8C-3762-0A03-C45B-9A3B8B4F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8;p24">
            <a:extLst>
              <a:ext uri="{FF2B5EF4-FFF2-40B4-BE49-F238E27FC236}">
                <a16:creationId xmlns:a16="http://schemas.microsoft.com/office/drawing/2014/main" id="{E10E54B4-6B78-3E6B-2890-77FAE12571A9}"/>
              </a:ext>
            </a:extLst>
          </p:cNvPr>
          <p:cNvSpPr txBox="1"/>
          <p:nvPr/>
        </p:nvSpPr>
        <p:spPr>
          <a:xfrm>
            <a:off x="595250" y="400050"/>
            <a:ext cx="291349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Example</a:t>
            </a:r>
            <a:endParaRPr lang="en" sz="6200" b="0" i="0" u="none" strike="noStrike" cap="none" dirty="0">
              <a:solidFill>
                <a:srgbClr val="191515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8" name="Picture 7" descr="A large display of vegetables&#10;&#10;Description automatically generated">
            <a:extLst>
              <a:ext uri="{FF2B5EF4-FFF2-40B4-BE49-F238E27FC236}">
                <a16:creationId xmlns:a16="http://schemas.microsoft.com/office/drawing/2014/main" id="{E7D0070A-7016-9A78-5D13-CEFAAF7E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11"/>
          <a:stretch/>
        </p:blipFill>
        <p:spPr>
          <a:xfrm>
            <a:off x="1259871" y="1354157"/>
            <a:ext cx="6624257" cy="33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15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FD3A413-153F-646F-5226-D2B4FC12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FC45D5E9-68E7-859E-5BE9-CCAE82B76453}"/>
              </a:ext>
            </a:extLst>
          </p:cNvPr>
          <p:cNvSpPr txBox="1"/>
          <p:nvPr/>
        </p:nvSpPr>
        <p:spPr>
          <a:xfrm>
            <a:off x="514350" y="516133"/>
            <a:ext cx="664136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Vector Embeddings</a:t>
            </a:r>
            <a:endParaRPr sz="700" dirty="0"/>
          </a:p>
        </p:txBody>
      </p:sp>
      <p:sp>
        <p:nvSpPr>
          <p:cNvPr id="87" name="Google Shape;87;p14">
            <a:extLst>
              <a:ext uri="{FF2B5EF4-FFF2-40B4-BE49-F238E27FC236}">
                <a16:creationId xmlns:a16="http://schemas.microsoft.com/office/drawing/2014/main" id="{97439103-2ABC-A935-9EE5-087A878EBFB8}"/>
              </a:ext>
            </a:extLst>
          </p:cNvPr>
          <p:cNvSpPr txBox="1"/>
          <p:nvPr/>
        </p:nvSpPr>
        <p:spPr>
          <a:xfrm>
            <a:off x="514350" y="1732213"/>
            <a:ext cx="49227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Vector representation of data (text, image, video, sound)</a:t>
            </a:r>
          </a:p>
          <a:p>
            <a:pPr marL="171450" marR="0" lvl="1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F832064-02BC-FAC3-CD17-510A9AB49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640518"/>
            <a:ext cx="4922700" cy="1933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60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F74B2E3-779A-FC63-27C5-8FC3BDF2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38631730-45EF-6E65-779F-AA8B82DDDC1E}"/>
              </a:ext>
            </a:extLst>
          </p:cNvPr>
          <p:cNvSpPr txBox="1"/>
          <p:nvPr/>
        </p:nvSpPr>
        <p:spPr>
          <a:xfrm>
            <a:off x="514350" y="516133"/>
            <a:ext cx="73803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Vector Embeddings 2</a:t>
            </a:r>
            <a:endParaRPr sz="700" dirty="0"/>
          </a:p>
        </p:txBody>
      </p:sp>
      <p:pic>
        <p:nvPicPr>
          <p:cNvPr id="6" name="Picture 5" descr="A diagram of different types of objects&#10;&#10;Description automatically generated with medium confidence">
            <a:extLst>
              <a:ext uri="{FF2B5EF4-FFF2-40B4-BE49-F238E27FC236}">
                <a16:creationId xmlns:a16="http://schemas.microsoft.com/office/drawing/2014/main" id="{D8F692B1-F4EE-B7E1-69D3-A89A2BE8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82" t="10569" r="57182" b="27787"/>
          <a:stretch/>
        </p:blipFill>
        <p:spPr>
          <a:xfrm>
            <a:off x="514350" y="1736047"/>
            <a:ext cx="2917075" cy="2838388"/>
          </a:xfrm>
          <a:prstGeom prst="rect">
            <a:avLst/>
          </a:prstGeom>
        </p:spPr>
      </p:pic>
      <p:pic>
        <p:nvPicPr>
          <p:cNvPr id="5" name="Picture 4" descr="A group of colorful dots&#10;&#10;Description automatically generated">
            <a:extLst>
              <a:ext uri="{FF2B5EF4-FFF2-40B4-BE49-F238E27FC236}">
                <a16:creationId xmlns:a16="http://schemas.microsoft.com/office/drawing/2014/main" id="{5E475057-C120-676A-DAB8-A2A657298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774" y="1736047"/>
            <a:ext cx="1753938" cy="1288968"/>
          </a:xfrm>
          <a:prstGeom prst="rect">
            <a:avLst/>
          </a:prstGeom>
        </p:spPr>
      </p:pic>
      <p:pic>
        <p:nvPicPr>
          <p:cNvPr id="8" name="Picture 7" descr="A diagram of two people&#10;&#10;Description automatically generated">
            <a:extLst>
              <a:ext uri="{FF2B5EF4-FFF2-40B4-BE49-F238E27FC236}">
                <a16:creationId xmlns:a16="http://schemas.microsoft.com/office/drawing/2014/main" id="{07EC6398-4FFD-888D-33F0-37865BC1F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774" y="3285467"/>
            <a:ext cx="1753938" cy="128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064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781206" y="1865842"/>
            <a:ext cx="5621319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7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Indexing</a:t>
            </a:r>
            <a:endParaRPr sz="700" dirty="0"/>
          </a:p>
        </p:txBody>
      </p:sp>
      <p:pic>
        <p:nvPicPr>
          <p:cNvPr id="1026" name="Picture 2" descr="What is Document Indexing &amp; How to automate it?">
            <a:extLst>
              <a:ext uri="{FF2B5EF4-FFF2-40B4-BE49-F238E27FC236}">
                <a16:creationId xmlns:a16="http://schemas.microsoft.com/office/drawing/2014/main" id="{760DEC25-FB12-599E-54FA-D88D51195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87"/>
          <a:stretch/>
        </p:blipFill>
        <p:spPr bwMode="auto">
          <a:xfrm>
            <a:off x="6402525" y="512369"/>
            <a:ext cx="2741475" cy="411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438AF89B-28D0-F115-7324-5C0A0BA31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98DF4813-F924-3835-B5FC-8BBE4B28C39B}"/>
              </a:ext>
            </a:extLst>
          </p:cNvPr>
          <p:cNvSpPr txBox="1"/>
          <p:nvPr/>
        </p:nvSpPr>
        <p:spPr>
          <a:xfrm>
            <a:off x="514350" y="516133"/>
            <a:ext cx="73803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Flat Indexing</a:t>
            </a:r>
            <a:endParaRPr sz="700" dirty="0"/>
          </a:p>
        </p:txBody>
      </p:sp>
      <p:sp>
        <p:nvSpPr>
          <p:cNvPr id="4" name="Google Shape;209;p24">
            <a:extLst>
              <a:ext uri="{FF2B5EF4-FFF2-40B4-BE49-F238E27FC236}">
                <a16:creationId xmlns:a16="http://schemas.microsoft.com/office/drawing/2014/main" id="{DE5C801D-6DDD-96AC-E773-4D144EB5B1D3}"/>
              </a:ext>
            </a:extLst>
          </p:cNvPr>
          <p:cNvSpPr txBox="1"/>
          <p:nvPr/>
        </p:nvSpPr>
        <p:spPr>
          <a:xfrm>
            <a:off x="651979" y="1720451"/>
            <a:ext cx="36021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Store Vector as is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Simple and accurate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Very slow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Good for small datasets</a:t>
            </a:r>
          </a:p>
        </p:txBody>
      </p:sp>
    </p:spTree>
    <p:extLst>
      <p:ext uri="{BB962C8B-B14F-4D97-AF65-F5344CB8AC3E}">
        <p14:creationId xmlns:p14="http://schemas.microsoft.com/office/powerpoint/2010/main" val="161061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7BD8DA4-9791-EE19-6488-B44F9D0C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32B74A56-E781-DA1C-7E36-B37E42A57C48}"/>
              </a:ext>
            </a:extLst>
          </p:cNvPr>
          <p:cNvSpPr txBox="1"/>
          <p:nvPr/>
        </p:nvSpPr>
        <p:spPr>
          <a:xfrm>
            <a:off x="514350" y="516133"/>
            <a:ext cx="862965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 dirty="0">
                <a:solidFill>
                  <a:srgbClr val="191515"/>
                </a:solidFill>
                <a:latin typeface="Anton"/>
                <a:sym typeface="Anton"/>
              </a:rPr>
              <a:t>Locality Sensitive Hashing</a:t>
            </a:r>
            <a:endParaRPr sz="700" dirty="0"/>
          </a:p>
        </p:txBody>
      </p:sp>
      <p:sp>
        <p:nvSpPr>
          <p:cNvPr id="2" name="Google Shape;209;p24">
            <a:extLst>
              <a:ext uri="{FF2B5EF4-FFF2-40B4-BE49-F238E27FC236}">
                <a16:creationId xmlns:a16="http://schemas.microsoft.com/office/drawing/2014/main" id="{45660D55-FB6C-551A-BC51-934B6B203DDD}"/>
              </a:ext>
            </a:extLst>
          </p:cNvPr>
          <p:cNvSpPr txBox="1"/>
          <p:nvPr/>
        </p:nvSpPr>
        <p:spPr>
          <a:xfrm>
            <a:off x="651979" y="1720451"/>
            <a:ext cx="36021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Focused on speed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Finds approximates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Sacrifice speed for accuracy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Hashes vectors into buckets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Similar vectors go in the same bucket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C8C4974-BFD2-8854-C350-2978EC396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696" y="1720451"/>
            <a:ext cx="2915050" cy="286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97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8628CD0-FB58-7F82-AE90-EFA56555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4286593E-20EB-AAA7-CEC6-90C33E86C54D}"/>
              </a:ext>
            </a:extLst>
          </p:cNvPr>
          <p:cNvSpPr txBox="1"/>
          <p:nvPr/>
        </p:nvSpPr>
        <p:spPr>
          <a:xfrm>
            <a:off x="514350" y="516133"/>
            <a:ext cx="709324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191515"/>
                </a:solidFill>
                <a:latin typeface="Anton"/>
                <a:sym typeface="Anton"/>
              </a:rPr>
              <a:t>Hierarchical Navigable Small Worlds</a:t>
            </a:r>
            <a:endParaRPr lang="en-US" sz="4800" dirty="0"/>
          </a:p>
        </p:txBody>
      </p:sp>
      <p:sp>
        <p:nvSpPr>
          <p:cNvPr id="2" name="Google Shape;209;p24">
            <a:extLst>
              <a:ext uri="{FF2B5EF4-FFF2-40B4-BE49-F238E27FC236}">
                <a16:creationId xmlns:a16="http://schemas.microsoft.com/office/drawing/2014/main" id="{092FC403-0BDD-8C66-2A3D-B405725FA59D}"/>
              </a:ext>
            </a:extLst>
          </p:cNvPr>
          <p:cNvSpPr txBox="1"/>
          <p:nvPr/>
        </p:nvSpPr>
        <p:spPr>
          <a:xfrm>
            <a:off x="651979" y="2269908"/>
            <a:ext cx="3602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Multi-layered graph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Top level most sparse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Lower layers =&gt; more precise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Goal: least hops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Very fast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Popular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3C6C074D-CCB1-6F3B-7734-3CBC3B758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59" y="1254797"/>
            <a:ext cx="2687791" cy="35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32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5A39A71E-72FE-5597-5C43-88B28884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>
            <a:extLst>
              <a:ext uri="{FF2B5EF4-FFF2-40B4-BE49-F238E27FC236}">
                <a16:creationId xmlns:a16="http://schemas.microsoft.com/office/drawing/2014/main" id="{D78897B7-9364-DF81-73F1-1DE703821511}"/>
              </a:ext>
            </a:extLst>
          </p:cNvPr>
          <p:cNvSpPr txBox="1"/>
          <p:nvPr/>
        </p:nvSpPr>
        <p:spPr>
          <a:xfrm>
            <a:off x="781205" y="1231931"/>
            <a:ext cx="5621319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7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Querying Algorithms</a:t>
            </a:r>
            <a:endParaRPr sz="7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9304776-D847-E9BD-CA78-0EE7FA3CAE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93" t="16433" r="-1" b="20359"/>
          <a:stretch/>
        </p:blipFill>
        <p:spPr bwMode="auto">
          <a:xfrm>
            <a:off x="6402524" y="517801"/>
            <a:ext cx="2741477" cy="411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594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9D6779EF-834D-615F-23F4-0E820FED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1111364B-6B0E-ECDE-462A-7542B4D1A3B5}"/>
              </a:ext>
            </a:extLst>
          </p:cNvPr>
          <p:cNvSpPr txBox="1"/>
          <p:nvPr/>
        </p:nvSpPr>
        <p:spPr>
          <a:xfrm>
            <a:off x="514350" y="516133"/>
            <a:ext cx="73803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Euclidean Distance</a:t>
            </a:r>
            <a:endParaRPr sz="700" dirty="0"/>
          </a:p>
        </p:txBody>
      </p:sp>
      <p:sp>
        <p:nvSpPr>
          <p:cNvPr id="2" name="Google Shape;209;p24">
            <a:extLst>
              <a:ext uri="{FF2B5EF4-FFF2-40B4-BE49-F238E27FC236}">
                <a16:creationId xmlns:a16="http://schemas.microsoft.com/office/drawing/2014/main" id="{17ADB8A3-D5F2-C84E-B0CF-DCCC018B3C07}"/>
              </a:ext>
            </a:extLst>
          </p:cNvPr>
          <p:cNvSpPr txBox="1"/>
          <p:nvPr/>
        </p:nvSpPr>
        <p:spPr>
          <a:xfrm>
            <a:off x="651979" y="1720451"/>
            <a:ext cx="3602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Measures straight-line distance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Output: 0 to +∞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45CD6F-04B7-3882-1E39-BAE24AE1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874" y="2501900"/>
            <a:ext cx="2590800" cy="2298700"/>
          </a:xfrm>
          <a:prstGeom prst="rect">
            <a:avLst/>
          </a:prstGeom>
        </p:spPr>
      </p:pic>
      <p:pic>
        <p:nvPicPr>
          <p:cNvPr id="11" name="Picture 10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15901A7C-3050-4092-B0BA-EEAB2B9D5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79" y="3314700"/>
            <a:ext cx="3733800" cy="1485900"/>
          </a:xfrm>
          <a:prstGeom prst="rect">
            <a:avLst/>
          </a:prstGeom>
        </p:spPr>
      </p:pic>
      <p:pic>
        <p:nvPicPr>
          <p:cNvPr id="13" name="Picture 12" descr="A black and white math symbol&#10;&#10;Description automatically generated with medium confidence">
            <a:extLst>
              <a:ext uri="{FF2B5EF4-FFF2-40B4-BE49-F238E27FC236}">
                <a16:creationId xmlns:a16="http://schemas.microsoft.com/office/drawing/2014/main" id="{7AB72561-C459-6F6C-99A1-F962938BD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9" y="2401549"/>
            <a:ext cx="2170965" cy="59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61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DF938A22-7E24-3E04-BBD1-6BE2F727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D77B61EE-C8B7-15D5-A398-54D14EDC2991}"/>
              </a:ext>
            </a:extLst>
          </p:cNvPr>
          <p:cNvSpPr txBox="1"/>
          <p:nvPr/>
        </p:nvSpPr>
        <p:spPr>
          <a:xfrm>
            <a:off x="514350" y="516133"/>
            <a:ext cx="73803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Cosine Similarity</a:t>
            </a:r>
            <a:endParaRPr sz="700" dirty="0"/>
          </a:p>
        </p:txBody>
      </p:sp>
      <p:sp>
        <p:nvSpPr>
          <p:cNvPr id="2" name="Google Shape;209;p24">
            <a:extLst>
              <a:ext uri="{FF2B5EF4-FFF2-40B4-BE49-F238E27FC236}">
                <a16:creationId xmlns:a16="http://schemas.microsoft.com/office/drawing/2014/main" id="{0EB14774-82F2-F205-70B8-7D20E28F6951}"/>
              </a:ext>
            </a:extLst>
          </p:cNvPr>
          <p:cNvSpPr txBox="1"/>
          <p:nvPr/>
        </p:nvSpPr>
        <p:spPr>
          <a:xfrm>
            <a:off x="651979" y="1720451"/>
            <a:ext cx="3602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Measures cosine of angle between vectors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Similar direction = similar data</a:t>
            </a:r>
          </a:p>
        </p:txBody>
      </p:sp>
      <p:pic>
        <p:nvPicPr>
          <p:cNvPr id="7" name="Picture 6" descr="A diagram of a line with a circle and a circle with a circle&#10;&#10;Description automatically generated with medium confidence">
            <a:extLst>
              <a:ext uri="{FF2B5EF4-FFF2-40B4-BE49-F238E27FC236}">
                <a16:creationId xmlns:a16="http://schemas.microsoft.com/office/drawing/2014/main" id="{AF99C949-7C92-48AA-15CF-57709CFB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874" y="2501900"/>
            <a:ext cx="2590800" cy="2311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C657A5-0716-4C0F-DFB7-6C2BF156D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79" y="2324100"/>
            <a:ext cx="1625600" cy="495300"/>
          </a:xfrm>
          <a:prstGeom prst="rect">
            <a:avLst/>
          </a:prstGeom>
        </p:spPr>
      </p:pic>
      <p:pic>
        <p:nvPicPr>
          <p:cNvPr id="12" name="Picture 11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06E95B62-782D-7787-C57B-FCD3A5621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9" y="3016558"/>
            <a:ext cx="2822586" cy="17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1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06B60BC-A58C-D929-50B5-636917B69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C9688ABA-0AC9-3AFA-2ABD-2D269F97FDF0}"/>
              </a:ext>
            </a:extLst>
          </p:cNvPr>
          <p:cNvSpPr txBox="1"/>
          <p:nvPr/>
        </p:nvSpPr>
        <p:spPr>
          <a:xfrm>
            <a:off x="514350" y="516133"/>
            <a:ext cx="738032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dirty="0">
                <a:solidFill>
                  <a:srgbClr val="191515"/>
                </a:solidFill>
                <a:latin typeface="Anton"/>
                <a:sym typeface="Anton"/>
              </a:rPr>
              <a:t>Dot Product Similarity</a:t>
            </a:r>
            <a:endParaRPr sz="700" dirty="0"/>
          </a:p>
        </p:txBody>
      </p:sp>
      <p:sp>
        <p:nvSpPr>
          <p:cNvPr id="2" name="Google Shape;209;p24">
            <a:extLst>
              <a:ext uri="{FF2B5EF4-FFF2-40B4-BE49-F238E27FC236}">
                <a16:creationId xmlns:a16="http://schemas.microsoft.com/office/drawing/2014/main" id="{16B0A5C7-985C-79BB-6E19-8F9B2EE5312C}"/>
              </a:ext>
            </a:extLst>
          </p:cNvPr>
          <p:cNvSpPr txBox="1"/>
          <p:nvPr/>
        </p:nvSpPr>
        <p:spPr>
          <a:xfrm>
            <a:off x="651979" y="1720451"/>
            <a:ext cx="3602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Measures how much vectors point in same direction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Higer number = higher similarity</a:t>
            </a:r>
          </a:p>
        </p:txBody>
      </p:sp>
      <p:pic>
        <p:nvPicPr>
          <p:cNvPr id="4" name="Picture 3" descr="A graph of a queen&#10;&#10;Description automatically generated">
            <a:extLst>
              <a:ext uri="{FF2B5EF4-FFF2-40B4-BE49-F238E27FC236}">
                <a16:creationId xmlns:a16="http://schemas.microsoft.com/office/drawing/2014/main" id="{630CEB4D-351D-C505-65F6-974D2C209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474" y="2501900"/>
            <a:ext cx="2743200" cy="2298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E6ABC-08F5-B025-3E4D-37450A9A6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79" y="4178300"/>
            <a:ext cx="3187700" cy="622300"/>
          </a:xfrm>
          <a:prstGeom prst="rect">
            <a:avLst/>
          </a:prstGeom>
        </p:spPr>
      </p:pic>
      <p:pic>
        <p:nvPicPr>
          <p:cNvPr id="13" name="Picture 12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0E91CF26-87B1-7E05-695D-911276356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9" y="3466399"/>
            <a:ext cx="1214035" cy="51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24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10475F80-D96A-DF25-4C19-94116E98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>
            <a:extLst>
              <a:ext uri="{FF2B5EF4-FFF2-40B4-BE49-F238E27FC236}">
                <a16:creationId xmlns:a16="http://schemas.microsoft.com/office/drawing/2014/main" id="{2CAF5A8D-C814-93AB-16E3-CEDBEDCF9040}"/>
              </a:ext>
            </a:extLst>
          </p:cNvPr>
          <p:cNvSpPr txBox="1"/>
          <p:nvPr/>
        </p:nvSpPr>
        <p:spPr>
          <a:xfrm>
            <a:off x="734536" y="3267074"/>
            <a:ext cx="1924931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Common Risks</a:t>
            </a:r>
            <a:endParaRPr lang="en-US" sz="700" dirty="0"/>
          </a:p>
        </p:txBody>
      </p:sp>
      <p:sp>
        <p:nvSpPr>
          <p:cNvPr id="184" name="Google Shape;184;p22">
            <a:extLst>
              <a:ext uri="{FF2B5EF4-FFF2-40B4-BE49-F238E27FC236}">
                <a16:creationId xmlns:a16="http://schemas.microsoft.com/office/drawing/2014/main" id="{2422BF63-DA11-341F-F82B-FBCE79CA4B63}"/>
              </a:ext>
            </a:extLst>
          </p:cNvPr>
          <p:cNvSpPr txBox="1"/>
          <p:nvPr/>
        </p:nvSpPr>
        <p:spPr>
          <a:xfrm>
            <a:off x="5106527" y="3267074"/>
            <a:ext cx="1987467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Exact/Precise Results</a:t>
            </a:r>
            <a:endParaRPr sz="700" dirty="0"/>
          </a:p>
        </p:txBody>
      </p:sp>
      <p:sp>
        <p:nvSpPr>
          <p:cNvPr id="185" name="Google Shape;185;p22">
            <a:extLst>
              <a:ext uri="{FF2B5EF4-FFF2-40B4-BE49-F238E27FC236}">
                <a16:creationId xmlns:a16="http://schemas.microsoft.com/office/drawing/2014/main" id="{BF7AD5ED-C86C-55DA-24D0-94FC787FE7E6}"/>
              </a:ext>
            </a:extLst>
          </p:cNvPr>
          <p:cNvSpPr txBox="1"/>
          <p:nvPr/>
        </p:nvSpPr>
        <p:spPr>
          <a:xfrm>
            <a:off x="734536" y="3669781"/>
            <a:ext cx="35232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Overlooking Metadata</a:t>
            </a:r>
          </a:p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Inefficient Queries</a:t>
            </a:r>
          </a:p>
        </p:txBody>
      </p:sp>
      <p:sp>
        <p:nvSpPr>
          <p:cNvPr id="186" name="Google Shape;186;p22">
            <a:extLst>
              <a:ext uri="{FF2B5EF4-FFF2-40B4-BE49-F238E27FC236}">
                <a16:creationId xmlns:a16="http://schemas.microsoft.com/office/drawing/2014/main" id="{1900CF52-52B2-579D-806E-59EBE7DAB5E7}"/>
              </a:ext>
            </a:extLst>
          </p:cNvPr>
          <p:cNvSpPr txBox="1"/>
          <p:nvPr/>
        </p:nvSpPr>
        <p:spPr>
          <a:xfrm>
            <a:off x="5106527" y="3669781"/>
            <a:ext cx="3523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Not made for exact searches</a:t>
            </a:r>
            <a:endParaRPr lang="en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  <a:p>
            <a:pPr marL="171450" marR="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b="0" i="0" u="sng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Not a</a:t>
            </a:r>
            <a:r>
              <a:rPr lang="en" u="sng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 replacement for relational databases</a:t>
            </a:r>
            <a:endParaRPr lang="en" b="0" i="0" u="sng" strike="noStrike" cap="none" dirty="0">
              <a:solidFill>
                <a:srgbClr val="19151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87" name="Google Shape;187;p22">
            <a:extLst>
              <a:ext uri="{FF2B5EF4-FFF2-40B4-BE49-F238E27FC236}">
                <a16:creationId xmlns:a16="http://schemas.microsoft.com/office/drawing/2014/main" id="{8F39809B-0DD4-0BF7-293C-8A5F695F4008}"/>
              </a:ext>
            </a:extLst>
          </p:cNvPr>
          <p:cNvSpPr txBox="1"/>
          <p:nvPr/>
        </p:nvSpPr>
        <p:spPr>
          <a:xfrm>
            <a:off x="734536" y="1179714"/>
            <a:ext cx="3938456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Current Issues</a:t>
            </a:r>
            <a:endParaRPr sz="700" dirty="0"/>
          </a:p>
        </p:txBody>
      </p:sp>
      <p:pic>
        <p:nvPicPr>
          <p:cNvPr id="5" name="Picture 4" descr="A black and white icon with a stack of coins&#10;&#10;Description automatically generated">
            <a:extLst>
              <a:ext uri="{FF2B5EF4-FFF2-40B4-BE49-F238E27FC236}">
                <a16:creationId xmlns:a16="http://schemas.microsoft.com/office/drawing/2014/main" id="{7EFEC317-3D0C-AD44-8CA1-E4278989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525" y="1179714"/>
            <a:ext cx="1646827" cy="191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4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/>
        </p:nvSpPr>
        <p:spPr>
          <a:xfrm>
            <a:off x="3278840" y="628650"/>
            <a:ext cx="5350800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Future of Vector Databases</a:t>
            </a:r>
            <a:endParaRPr sz="700" dirty="0"/>
          </a:p>
        </p:txBody>
      </p:sp>
      <p:sp>
        <p:nvSpPr>
          <p:cNvPr id="108" name="Google Shape;108;p16"/>
          <p:cNvSpPr txBox="1"/>
          <p:nvPr/>
        </p:nvSpPr>
        <p:spPr>
          <a:xfrm>
            <a:off x="3335568" y="2629535"/>
            <a:ext cx="3055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Optimize for weaker hardware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Better querying algorithms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Complex pattern matching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8971FAD-9775-03BE-3FB9-2C2F6E5133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9" r="17698"/>
          <a:stretch/>
        </p:blipFill>
        <p:spPr bwMode="auto">
          <a:xfrm>
            <a:off x="0" y="1601880"/>
            <a:ext cx="3055800" cy="3541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4" name="Picture 10" descr="Free watch mechanism time vector">
            <a:extLst>
              <a:ext uri="{FF2B5EF4-FFF2-40B4-BE49-F238E27FC236}">
                <a16:creationId xmlns:a16="http://schemas.microsoft.com/office/drawing/2014/main" id="{72AF7546-8A23-07A5-8BDD-461A2D68AB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6" b="3206"/>
          <a:stretch/>
        </p:blipFill>
        <p:spPr bwMode="auto">
          <a:xfrm>
            <a:off x="6946559" y="1933237"/>
            <a:ext cx="1596725" cy="1591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ree Geometric abstract representation of AI technology with digital elements. Stock Photo">
            <a:extLst>
              <a:ext uri="{FF2B5EF4-FFF2-40B4-BE49-F238E27FC236}">
                <a16:creationId xmlns:a16="http://schemas.microsoft.com/office/drawing/2014/main" id="{758E07D2-A6FB-1361-AF0D-EA4D3B2CC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908" y="1933237"/>
            <a:ext cx="1596751" cy="159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ierarchical Navigable Small Worlds (HNSW) | Pinecone">
            <a:extLst>
              <a:ext uri="{FF2B5EF4-FFF2-40B4-BE49-F238E27FC236}">
                <a16:creationId xmlns:a16="http://schemas.microsoft.com/office/drawing/2014/main" id="{4DF1CF8A-0389-5D8F-2F83-FE0EF061E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629" y="1943967"/>
            <a:ext cx="1597379" cy="158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visualization">
            <a:extLst>
              <a:ext uri="{FF2B5EF4-FFF2-40B4-BE49-F238E27FC236}">
                <a16:creationId xmlns:a16="http://schemas.microsoft.com/office/drawing/2014/main" id="{DC3C0B57-C3E9-884E-BF58-79D67A22C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935941"/>
            <a:ext cx="1577114" cy="159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5" name="Google Shape;135;p19"/>
          <p:cNvGrpSpPr/>
          <p:nvPr/>
        </p:nvGrpSpPr>
        <p:grpSpPr>
          <a:xfrm>
            <a:off x="514350" y="3392111"/>
            <a:ext cx="131421" cy="132432"/>
            <a:chOff x="0" y="0"/>
            <a:chExt cx="69226" cy="69759"/>
          </a:xfrm>
        </p:grpSpPr>
        <p:sp>
          <p:nvSpPr>
            <p:cNvPr id="136" name="Google Shape;136;p19"/>
            <p:cNvSpPr/>
            <p:nvPr/>
          </p:nvSpPr>
          <p:spPr>
            <a:xfrm>
              <a:off x="0" y="0"/>
              <a:ext cx="69226" cy="69759"/>
            </a:xfrm>
            <a:custGeom>
              <a:avLst/>
              <a:gdLst/>
              <a:ahLst/>
              <a:cxnLst/>
              <a:rect l="l" t="t" r="r" b="b"/>
              <a:pathLst>
                <a:path w="69226" h="69759" extrusionOk="0">
                  <a:moveTo>
                    <a:pt x="0" y="0"/>
                  </a:moveTo>
                  <a:lnTo>
                    <a:pt x="69226" y="0"/>
                  </a:lnTo>
                  <a:lnTo>
                    <a:pt x="69226" y="69759"/>
                  </a:lnTo>
                  <a:lnTo>
                    <a:pt x="0" y="697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Google Shape;137;p19"/>
            <p:cNvSpPr txBox="1"/>
            <p:nvPr/>
          </p:nvSpPr>
          <p:spPr>
            <a:xfrm>
              <a:off x="0" y="19050"/>
              <a:ext cx="69226" cy="50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9"/>
          <p:cNvGrpSpPr/>
          <p:nvPr/>
        </p:nvGrpSpPr>
        <p:grpSpPr>
          <a:xfrm>
            <a:off x="4802909" y="3392111"/>
            <a:ext cx="131421" cy="132432"/>
            <a:chOff x="0" y="0"/>
            <a:chExt cx="69226" cy="69759"/>
          </a:xfrm>
        </p:grpSpPr>
        <p:sp>
          <p:nvSpPr>
            <p:cNvPr id="139" name="Google Shape;139;p19"/>
            <p:cNvSpPr/>
            <p:nvPr/>
          </p:nvSpPr>
          <p:spPr>
            <a:xfrm>
              <a:off x="0" y="0"/>
              <a:ext cx="69226" cy="69759"/>
            </a:xfrm>
            <a:custGeom>
              <a:avLst/>
              <a:gdLst/>
              <a:ahLst/>
              <a:cxnLst/>
              <a:rect l="l" t="t" r="r" b="b"/>
              <a:pathLst>
                <a:path w="69226" h="69759" extrusionOk="0">
                  <a:moveTo>
                    <a:pt x="0" y="0"/>
                  </a:moveTo>
                  <a:lnTo>
                    <a:pt x="69226" y="0"/>
                  </a:lnTo>
                  <a:lnTo>
                    <a:pt x="69226" y="69759"/>
                  </a:lnTo>
                  <a:lnTo>
                    <a:pt x="0" y="697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Google Shape;140;p19"/>
            <p:cNvSpPr txBox="1"/>
            <p:nvPr/>
          </p:nvSpPr>
          <p:spPr>
            <a:xfrm>
              <a:off x="0" y="19050"/>
              <a:ext cx="69226" cy="50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9"/>
          <p:cNvGrpSpPr/>
          <p:nvPr/>
        </p:nvGrpSpPr>
        <p:grpSpPr>
          <a:xfrm>
            <a:off x="6947188" y="3392111"/>
            <a:ext cx="131421" cy="132432"/>
            <a:chOff x="0" y="0"/>
            <a:chExt cx="69226" cy="69759"/>
          </a:xfrm>
        </p:grpSpPr>
        <p:sp>
          <p:nvSpPr>
            <p:cNvPr id="142" name="Google Shape;142;p19"/>
            <p:cNvSpPr/>
            <p:nvPr/>
          </p:nvSpPr>
          <p:spPr>
            <a:xfrm>
              <a:off x="0" y="0"/>
              <a:ext cx="69226" cy="69759"/>
            </a:xfrm>
            <a:custGeom>
              <a:avLst/>
              <a:gdLst/>
              <a:ahLst/>
              <a:cxnLst/>
              <a:rect l="l" t="t" r="r" b="b"/>
              <a:pathLst>
                <a:path w="69226" h="69759" extrusionOk="0">
                  <a:moveTo>
                    <a:pt x="0" y="0"/>
                  </a:moveTo>
                  <a:lnTo>
                    <a:pt x="69226" y="0"/>
                  </a:lnTo>
                  <a:lnTo>
                    <a:pt x="69226" y="69759"/>
                  </a:lnTo>
                  <a:lnTo>
                    <a:pt x="0" y="697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0" y="19050"/>
              <a:ext cx="69226" cy="50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9"/>
          <p:cNvGrpSpPr/>
          <p:nvPr/>
        </p:nvGrpSpPr>
        <p:grpSpPr>
          <a:xfrm>
            <a:off x="2658629" y="3392111"/>
            <a:ext cx="131421" cy="132432"/>
            <a:chOff x="0" y="0"/>
            <a:chExt cx="69226" cy="69759"/>
          </a:xfrm>
        </p:grpSpPr>
        <p:sp>
          <p:nvSpPr>
            <p:cNvPr id="145" name="Google Shape;145;p19"/>
            <p:cNvSpPr/>
            <p:nvPr/>
          </p:nvSpPr>
          <p:spPr>
            <a:xfrm>
              <a:off x="0" y="0"/>
              <a:ext cx="69226" cy="69759"/>
            </a:xfrm>
            <a:custGeom>
              <a:avLst/>
              <a:gdLst/>
              <a:ahLst/>
              <a:cxnLst/>
              <a:rect l="l" t="t" r="r" b="b"/>
              <a:pathLst>
                <a:path w="69226" h="69759" extrusionOk="0">
                  <a:moveTo>
                    <a:pt x="0" y="0"/>
                  </a:moveTo>
                  <a:lnTo>
                    <a:pt x="69226" y="0"/>
                  </a:lnTo>
                  <a:lnTo>
                    <a:pt x="69226" y="69759"/>
                  </a:lnTo>
                  <a:lnTo>
                    <a:pt x="0" y="697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0" y="19050"/>
              <a:ext cx="69226" cy="507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9"/>
          <p:cNvSpPr txBox="1"/>
          <p:nvPr/>
        </p:nvSpPr>
        <p:spPr>
          <a:xfrm>
            <a:off x="514350" y="3843631"/>
            <a:ext cx="168246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Vector Embeddings</a:t>
            </a:r>
            <a:endParaRPr sz="700" dirty="0"/>
          </a:p>
        </p:txBody>
      </p:sp>
      <p:sp>
        <p:nvSpPr>
          <p:cNvPr id="148" name="Google Shape;148;p19"/>
          <p:cNvSpPr txBox="1"/>
          <p:nvPr/>
        </p:nvSpPr>
        <p:spPr>
          <a:xfrm>
            <a:off x="514350" y="4275909"/>
            <a:ext cx="1682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Mathematical representation of data</a:t>
            </a:r>
            <a:endParaRPr lang="en-US" sz="700" dirty="0"/>
          </a:p>
        </p:txBody>
      </p:sp>
      <p:sp>
        <p:nvSpPr>
          <p:cNvPr id="149" name="Google Shape;149;p19"/>
          <p:cNvSpPr txBox="1"/>
          <p:nvPr/>
        </p:nvSpPr>
        <p:spPr>
          <a:xfrm>
            <a:off x="2658629" y="3843631"/>
            <a:ext cx="168246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Indexing</a:t>
            </a:r>
            <a:endParaRPr sz="700" dirty="0"/>
          </a:p>
        </p:txBody>
      </p:sp>
      <p:sp>
        <p:nvSpPr>
          <p:cNvPr id="150" name="Google Shape;150;p19"/>
          <p:cNvSpPr txBox="1"/>
          <p:nvPr/>
        </p:nvSpPr>
        <p:spPr>
          <a:xfrm>
            <a:off x="2658629" y="4275909"/>
            <a:ext cx="1682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Efficient Storage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Help with later queries</a:t>
            </a:r>
            <a:endParaRPr sz="700" dirty="0"/>
          </a:p>
        </p:txBody>
      </p:sp>
      <p:sp>
        <p:nvSpPr>
          <p:cNvPr id="151" name="Google Shape;151;p19"/>
          <p:cNvSpPr txBox="1"/>
          <p:nvPr/>
        </p:nvSpPr>
        <p:spPr>
          <a:xfrm>
            <a:off x="4802909" y="4275909"/>
            <a:ext cx="168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Many algorithms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Pros and cons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Determine similarity</a:t>
            </a:r>
            <a:endParaRPr sz="700"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6947334" y="4275909"/>
            <a:ext cx="168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b="0" i="0" u="none" strike="noStrike" cap="none" dirty="0">
                <a:solidFill>
                  <a:srgbClr val="191515"/>
                </a:solidFill>
                <a:latin typeface="Alata"/>
                <a:ea typeface="Alata"/>
                <a:cs typeface="Alata"/>
                <a:sym typeface="Alata"/>
              </a:rPr>
              <a:t>Inefficiencies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Not precise</a:t>
            </a: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 dirty="0">
                <a:solidFill>
                  <a:srgbClr val="191515"/>
                </a:solidFill>
                <a:latin typeface="Alata"/>
                <a:cs typeface="Alata"/>
                <a:sym typeface="Alata"/>
              </a:rPr>
              <a:t>Only getting better</a:t>
            </a:r>
          </a:p>
        </p:txBody>
      </p:sp>
      <p:sp>
        <p:nvSpPr>
          <p:cNvPr id="153" name="Google Shape;153;p19"/>
          <p:cNvSpPr txBox="1"/>
          <p:nvPr/>
        </p:nvSpPr>
        <p:spPr>
          <a:xfrm>
            <a:off x="6947188" y="3843631"/>
            <a:ext cx="168246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191515"/>
                </a:solidFill>
                <a:latin typeface="Anton"/>
                <a:sym typeface="Anton"/>
              </a:rPr>
              <a:t>Issues and Future</a:t>
            </a:r>
            <a:endParaRPr sz="700"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4802909" y="3843631"/>
            <a:ext cx="1682463" cy="19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Querying</a:t>
            </a:r>
            <a:endParaRPr sz="700" dirty="0"/>
          </a:p>
        </p:txBody>
      </p:sp>
      <p:sp>
        <p:nvSpPr>
          <p:cNvPr id="155" name="Google Shape;155;p19"/>
          <p:cNvSpPr txBox="1"/>
          <p:nvPr/>
        </p:nvSpPr>
        <p:spPr>
          <a:xfrm>
            <a:off x="514350" y="516133"/>
            <a:ext cx="463112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Summary</a:t>
            </a:r>
            <a:endParaRPr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/>
        </p:nvSpPr>
        <p:spPr>
          <a:xfrm>
            <a:off x="1" y="2034918"/>
            <a:ext cx="9144000" cy="133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7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  <a:endParaRPr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8F3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/>
        </p:nvSpPr>
        <p:spPr>
          <a:xfrm>
            <a:off x="2470665" y="352933"/>
            <a:ext cx="4202671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b="0" i="0" u="none" strike="noStrike" cap="none" dirty="0">
                <a:solidFill>
                  <a:srgbClr val="191515"/>
                </a:solidFill>
                <a:latin typeface="Anton"/>
                <a:ea typeface="Anton"/>
                <a:cs typeface="Anton"/>
                <a:sym typeface="Anton"/>
              </a:rPr>
              <a:t>References</a:t>
            </a:r>
            <a:endParaRPr sz="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BB874-F859-428F-976B-755F5A123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000" dirty="0">
                <a:effectLst/>
              </a:rPr>
              <a:t>Alake, R. (2024, December 4). </a:t>
            </a:r>
            <a:r>
              <a:rPr lang="en-US" sz="1000" i="1" dirty="0">
                <a:effectLst/>
              </a:rPr>
              <a:t>Common pitfalls to avoid when using vector databases</a:t>
            </a:r>
            <a:r>
              <a:rPr lang="en-US" sz="1000" dirty="0">
                <a:effectLst/>
              </a:rPr>
              <a:t>. </a:t>
            </a:r>
            <a:r>
              <a:rPr lang="en-US" sz="1000" dirty="0" err="1">
                <a:effectLst/>
              </a:rPr>
              <a:t>DagsHub</a:t>
            </a:r>
            <a:r>
              <a:rPr lang="en-US" sz="1000" dirty="0">
                <a:effectLst/>
              </a:rPr>
              <a:t> Blog. </a:t>
            </a:r>
            <a:r>
              <a:rPr lang="en-US" sz="1000" dirty="0">
                <a:effectLst/>
                <a:hlinkClick r:id="rId3"/>
              </a:rPr>
              <a:t>https://dagshub.com/blog/common-pitfalls-to-avoid-when-using-vector-databases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 err="1">
                <a:effectLst/>
              </a:rPr>
              <a:t>Belagatti</a:t>
            </a:r>
            <a:r>
              <a:rPr lang="en-US" sz="1000" dirty="0">
                <a:effectLst/>
              </a:rPr>
              <a:t>, P. (2023, September 8). </a:t>
            </a:r>
            <a:r>
              <a:rPr lang="en-US" sz="1000" i="1" dirty="0">
                <a:effectLst/>
              </a:rPr>
              <a:t>WTF is a vector database: A beginner’s guide!</a:t>
            </a:r>
            <a:r>
              <a:rPr lang="en-US" sz="1000" dirty="0">
                <a:effectLst/>
              </a:rPr>
              <a:t> DEV Community. </a:t>
            </a:r>
            <a:r>
              <a:rPr lang="en-US" sz="1000" dirty="0">
                <a:effectLst/>
                <a:hlinkClick r:id="rId4"/>
              </a:rPr>
              <a:t>https://dev.to/pavanbelagatti/wtf-is-a-vector-database-a-beginners-guide-16p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>
                <a:effectLst/>
              </a:rPr>
              <a:t>Chand, M. (2024, September 10). </a:t>
            </a:r>
            <a:r>
              <a:rPr lang="en-US" sz="1000" i="1" dirty="0">
                <a:effectLst/>
              </a:rPr>
              <a:t>Understanding vector databases: The key to scaling AI and Search</a:t>
            </a:r>
            <a:r>
              <a:rPr lang="en-US" sz="1000" dirty="0">
                <a:effectLst/>
              </a:rPr>
              <a:t>. Medium. </a:t>
            </a:r>
            <a:r>
              <a:rPr lang="en-US" sz="1000" dirty="0">
                <a:effectLst/>
                <a:hlinkClick r:id="rId5"/>
              </a:rPr>
              <a:t>https://medium.com/@mehar.chand.cloud/understanding-vector-databases-the-key-to-scaling-ai-and-search-692ac2c7f3d3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>
                <a:effectLst/>
              </a:rPr>
              <a:t>Manager, E. C. P. (2023, August 15). </a:t>
            </a:r>
            <a:r>
              <a:rPr lang="en-US" sz="1000" i="1" dirty="0">
                <a:effectLst/>
              </a:rPr>
              <a:t>Distance metrics in vector search: </a:t>
            </a:r>
            <a:r>
              <a:rPr lang="en-US" sz="1000" i="1" dirty="0" err="1">
                <a:effectLst/>
              </a:rPr>
              <a:t>Weaviate</a:t>
            </a:r>
            <a:r>
              <a:rPr lang="en-US" sz="1000" dirty="0">
                <a:effectLst/>
              </a:rPr>
              <a:t>. </a:t>
            </a:r>
            <a:r>
              <a:rPr lang="en-US" sz="1000" dirty="0" err="1">
                <a:effectLst/>
              </a:rPr>
              <a:t>Weaviate</a:t>
            </a:r>
            <a:r>
              <a:rPr lang="en-US" sz="1000" dirty="0">
                <a:effectLst/>
              </a:rPr>
              <a:t> RSS. </a:t>
            </a:r>
            <a:r>
              <a:rPr lang="en-US" sz="1000" dirty="0">
                <a:effectLst/>
                <a:hlinkClick r:id="rId6"/>
              </a:rPr>
              <a:t>https://weaviate.io/blog/distance-metrics-in-vector-search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>
                <a:effectLst/>
              </a:rPr>
              <a:t>McLane, B. (2024, August 22). </a:t>
            </a:r>
            <a:r>
              <a:rPr lang="en-US" sz="1000" i="1" dirty="0">
                <a:effectLst/>
              </a:rPr>
              <a:t>What are vector embeddings? applications, use cases &amp; more</a:t>
            </a:r>
            <a:r>
              <a:rPr lang="en-US" sz="1000" dirty="0">
                <a:effectLst/>
              </a:rPr>
              <a:t>. DataStax. </a:t>
            </a:r>
            <a:r>
              <a:rPr lang="en-US" sz="1000" dirty="0">
                <a:effectLst/>
                <a:hlinkClick r:id="rId7"/>
              </a:rPr>
              <a:t>https://www.datastax.com/guides/what-is-a-vector-embedding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 err="1">
                <a:effectLst/>
              </a:rPr>
              <a:t>Schwaber</a:t>
            </a:r>
            <a:r>
              <a:rPr lang="en-US" sz="1000" dirty="0">
                <a:effectLst/>
              </a:rPr>
              <a:t>-Cohen, R. (n.d.). </a:t>
            </a:r>
            <a:r>
              <a:rPr lang="en-US" sz="1000" i="1" dirty="0">
                <a:effectLst/>
              </a:rPr>
              <a:t>What is a vector database &amp; how does it work? use cases + examples</a:t>
            </a:r>
            <a:r>
              <a:rPr lang="en-US" sz="1000" dirty="0">
                <a:effectLst/>
              </a:rPr>
              <a:t>. Pinecone. </a:t>
            </a:r>
            <a:r>
              <a:rPr lang="en-US" sz="1000" dirty="0">
                <a:effectLst/>
                <a:hlinkClick r:id="rId8"/>
              </a:rPr>
              <a:t>https://www.pinecone.io/learn/vector-database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i="1" dirty="0">
                <a:effectLst/>
              </a:rPr>
              <a:t>Similarity metrics for vector search</a:t>
            </a:r>
            <a:r>
              <a:rPr lang="en-US" sz="1000" dirty="0">
                <a:effectLst/>
              </a:rPr>
              <a:t>. </a:t>
            </a:r>
            <a:r>
              <a:rPr lang="en-US" sz="1000" dirty="0" err="1">
                <a:effectLst/>
              </a:rPr>
              <a:t>Zilliz</a:t>
            </a:r>
            <a:r>
              <a:rPr lang="en-US" sz="1000" dirty="0">
                <a:effectLst/>
              </a:rPr>
              <a:t> blog. (n.d.). </a:t>
            </a:r>
            <a:r>
              <a:rPr lang="en-US" sz="1000" dirty="0">
                <a:effectLst/>
                <a:hlinkClick r:id="rId9"/>
              </a:rPr>
              <a:t>https://zilliz.com/blog/similarity-metrics-for-vector-search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>
                <a:effectLst/>
              </a:rPr>
              <a:t>Soni, A. (2023, October 15). </a:t>
            </a:r>
            <a:r>
              <a:rPr lang="en-US" sz="1000" i="1" dirty="0">
                <a:effectLst/>
              </a:rPr>
              <a:t>Why are vector databases now A hot topic?</a:t>
            </a:r>
            <a:r>
              <a:rPr lang="en-US" sz="1000" dirty="0">
                <a:effectLst/>
              </a:rPr>
              <a:t>. LinkedIn. </a:t>
            </a:r>
            <a:r>
              <a:rPr lang="en-US" sz="1000" dirty="0">
                <a:effectLst/>
                <a:hlinkClick r:id="rId10"/>
              </a:rPr>
              <a:t>https://www.linkedin.com/pulse/why-vector-databases-now-hot-topic-abhishek-soni-fvacc</a:t>
            </a:r>
            <a:r>
              <a:rPr lang="en-US" sz="1000" dirty="0"/>
              <a:t> </a:t>
            </a:r>
            <a:endParaRPr lang="en-US" sz="1000" dirty="0">
              <a:effectLst/>
            </a:endParaRPr>
          </a:p>
          <a:p>
            <a:r>
              <a:rPr lang="en-US" sz="1000" dirty="0">
                <a:effectLst/>
              </a:rPr>
              <a:t>Suri, M. (2022, January 21). </a:t>
            </a:r>
            <a:r>
              <a:rPr lang="en-US" sz="1000" i="1" dirty="0">
                <a:effectLst/>
              </a:rPr>
              <a:t>A dummy’s guide to word2vec</a:t>
            </a:r>
            <a:r>
              <a:rPr lang="en-US" sz="1000" dirty="0">
                <a:effectLst/>
              </a:rPr>
              <a:t>. Medium. </a:t>
            </a:r>
            <a:r>
              <a:rPr lang="en-US" sz="1000" dirty="0">
                <a:effectLst/>
                <a:hlinkClick r:id="rId11"/>
              </a:rPr>
              <a:t>https://medium.com/@manansuri/a-dummys-guide-to-word2vec-456444f3c673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dirty="0">
                <a:effectLst/>
              </a:rPr>
              <a:t>Tai, W. (2024, March 2). </a:t>
            </a:r>
            <a:r>
              <a:rPr lang="en-US" sz="1000" i="1" dirty="0">
                <a:effectLst/>
              </a:rPr>
              <a:t>HNSW indexing in vector databases: Simple explanation and code</a:t>
            </a:r>
            <a:r>
              <a:rPr lang="en-US" sz="1000" dirty="0">
                <a:effectLst/>
              </a:rPr>
              <a:t>. Medium. </a:t>
            </a:r>
            <a:r>
              <a:rPr lang="en-US" sz="1000" dirty="0">
                <a:effectLst/>
                <a:hlinkClick r:id="rId12"/>
              </a:rPr>
              <a:t>https://medium.com/@wtaisen/hnsw-indexing-in-vector-databases-simple-explanation-and-code-3ef59d9c1920</a:t>
            </a:r>
            <a:r>
              <a:rPr lang="en-US" sz="1000" dirty="0">
                <a:effectLst/>
              </a:rPr>
              <a:t> </a:t>
            </a:r>
          </a:p>
          <a:p>
            <a:r>
              <a:rPr lang="en-US" sz="1000" i="1" dirty="0">
                <a:effectLst/>
              </a:rPr>
              <a:t>What is a vector database?: A comprehensive vector database guide</a:t>
            </a:r>
            <a:r>
              <a:rPr lang="en-US" sz="1000" dirty="0">
                <a:effectLst/>
              </a:rPr>
              <a:t>. Elastic. (n.d.). </a:t>
            </a:r>
            <a:r>
              <a:rPr lang="en-US" sz="1000" dirty="0">
                <a:effectLst/>
                <a:hlinkClick r:id="rId13"/>
              </a:rPr>
              <a:t>https://www.elastic.co/what-is/vector-database</a:t>
            </a:r>
            <a:r>
              <a:rPr lang="en-US" sz="1000" dirty="0">
                <a:effectLst/>
              </a:rPr>
              <a:t> </a:t>
            </a:r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1675</Words>
  <Application>Microsoft Macintosh PowerPoint</Application>
  <PresentationFormat>On-screen Show (16:9)</PresentationFormat>
  <Paragraphs>227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Anton</vt:lpstr>
      <vt:lpstr>Arial</vt:lpstr>
      <vt:lpstr>Alata</vt:lpstr>
      <vt:lpstr>Söhne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White, Claude</cp:lastModifiedBy>
  <cp:revision>7</cp:revision>
  <dcterms:modified xsi:type="dcterms:W3CDTF">2024-12-06T06:26:03Z</dcterms:modified>
</cp:coreProperties>
</file>