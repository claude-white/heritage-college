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7" r:id="rId2"/>
    <p:sldId id="259" r:id="rId3"/>
    <p:sldId id="262" r:id="rId4"/>
    <p:sldId id="268" r:id="rId5"/>
    <p:sldId id="261" r:id="rId6"/>
    <p:sldId id="263" r:id="rId7"/>
    <p:sldId id="264" r:id="rId8"/>
    <p:sldId id="266" r:id="rId9"/>
    <p:sldId id="267" r:id="rId10"/>
    <p:sldId id="269" r:id="rId11"/>
  </p:sldIdLst>
  <p:sldSz cx="9144000" cy="6858000" type="screen4x3"/>
  <p:notesSz cx="6858000" cy="9144000"/>
  <p:defaultTextStyle>
    <a:lvl1pPr>
      <a:buClr>
        <a:srgbClr val="000000"/>
      </a:buClr>
      <a:defRPr>
        <a:uFill>
          <a:solidFill/>
        </a:uFill>
        <a:latin typeface="+mn-lt"/>
        <a:ea typeface="+mn-ea"/>
        <a:cs typeface="+mn-cs"/>
        <a:sym typeface="Calibri"/>
      </a:defRPr>
    </a:lvl1pPr>
    <a:lvl2pPr indent="342900">
      <a:buClr>
        <a:srgbClr val="000000"/>
      </a:buClr>
      <a:defRPr>
        <a:uFill>
          <a:solidFill/>
        </a:uFill>
        <a:latin typeface="+mn-lt"/>
        <a:ea typeface="+mn-ea"/>
        <a:cs typeface="+mn-cs"/>
        <a:sym typeface="Calibri"/>
      </a:defRPr>
    </a:lvl2pPr>
    <a:lvl3pPr indent="685800">
      <a:buClr>
        <a:srgbClr val="000000"/>
      </a:buClr>
      <a:defRPr>
        <a:uFill>
          <a:solidFill/>
        </a:uFill>
        <a:latin typeface="+mn-lt"/>
        <a:ea typeface="+mn-ea"/>
        <a:cs typeface="+mn-cs"/>
        <a:sym typeface="Calibri"/>
      </a:defRPr>
    </a:lvl3pPr>
    <a:lvl4pPr indent="1028700">
      <a:buClr>
        <a:srgbClr val="000000"/>
      </a:buClr>
      <a:defRPr>
        <a:uFill>
          <a:solidFill/>
        </a:uFill>
        <a:latin typeface="+mn-lt"/>
        <a:ea typeface="+mn-ea"/>
        <a:cs typeface="+mn-cs"/>
        <a:sym typeface="Calibri"/>
      </a:defRPr>
    </a:lvl4pPr>
    <a:lvl5pPr indent="1371600">
      <a:buClr>
        <a:srgbClr val="000000"/>
      </a:buClr>
      <a:defRPr>
        <a:uFill>
          <a:solidFill/>
        </a:uFill>
        <a:latin typeface="+mn-lt"/>
        <a:ea typeface="+mn-ea"/>
        <a:cs typeface="+mn-cs"/>
        <a:sym typeface="Calibri"/>
      </a:defRPr>
    </a:lvl5pPr>
    <a:lvl6pPr indent="1714500">
      <a:buClr>
        <a:srgbClr val="000000"/>
      </a:buClr>
      <a:defRPr>
        <a:uFill>
          <a:solidFill/>
        </a:uFill>
        <a:latin typeface="+mn-lt"/>
        <a:ea typeface="+mn-ea"/>
        <a:cs typeface="+mn-cs"/>
        <a:sym typeface="Calibri"/>
      </a:defRPr>
    </a:lvl6pPr>
    <a:lvl7pPr indent="2057400">
      <a:buClr>
        <a:srgbClr val="000000"/>
      </a:buClr>
      <a:defRPr>
        <a:uFill>
          <a:solidFill/>
        </a:uFill>
        <a:latin typeface="+mn-lt"/>
        <a:ea typeface="+mn-ea"/>
        <a:cs typeface="+mn-cs"/>
        <a:sym typeface="Calibri"/>
      </a:defRPr>
    </a:lvl7pPr>
    <a:lvl8pPr indent="2400300">
      <a:buClr>
        <a:srgbClr val="000000"/>
      </a:buClr>
      <a:defRPr>
        <a:uFill>
          <a:solidFill/>
        </a:uFill>
        <a:latin typeface="+mn-lt"/>
        <a:ea typeface="+mn-ea"/>
        <a:cs typeface="+mn-cs"/>
        <a:sym typeface="Calibri"/>
      </a:defRPr>
    </a:lvl8pPr>
    <a:lvl9pPr indent="2743200">
      <a:buClr>
        <a:srgbClr val="000000"/>
      </a:buClr>
      <a:defRPr>
        <a:uFill>
          <a:solidFill/>
        </a:uFill>
        <a:latin typeface="+mn-lt"/>
        <a:ea typeface="+mn-ea"/>
        <a:cs typeface="+mn-cs"/>
        <a:sym typeface="Calibri"/>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DFE2D1-B3AA-0AA2-1C2D-862D5E516CF6}" v="35" dt="2024-11-07T16:03:46.151"/>
    <p1510:client id="{B1301A6F-56EC-BEB7-72D3-8F58E1120191}" v="14" dt="2024-11-07T16:31:25.384"/>
  </p1510:revLst>
</p1510:revInfo>
</file>

<file path=ppt/tableStyles.xml><?xml version="1.0" encoding="utf-8"?>
<a:tblStyleLst xmlns:a="http://schemas.openxmlformats.org/drawingml/2006/main" def="{5940675A-B579-460E-94D1-54222C63F5DA}">
  <a:tblStyle styleId="{8F44A2F1-9E1F-4B54-A3A2-5F16C0AD49E2}"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1EAF4"/>
          </a:solidFill>
        </a:fill>
      </a:tcStyle>
    </a:wholeTbl>
    <a:band2H>
      <a:tcTxStyle/>
      <a:tcStyle>
        <a:tcBdr/>
        <a:fill>
          <a:solidFill>
            <a:srgbClr val="F1F5FA"/>
          </a:solidFill>
        </a:fill>
      </a:tcStyle>
    </a:band2H>
    <a:firstCol>
      <a:tcTxStyle b="on" i="off">
        <a:fontRef idx="minor">
          <a:srgbClr val="FFFFFF"/>
        </a:fontRef>
        <a:srgbClr val="FFFFFF"/>
      </a:tcTxStyle>
      <a:tcStyle>
        <a:tcBdr>
          <a:left>
            <a:ln w="12700" cap="flat">
              <a:solidFill>
                <a:srgbClr val="FFFFFF"/>
              </a:solidFill>
              <a:prstDash val="solid"/>
              <a:round/>
            </a:ln>
          </a:left>
          <a:right>
            <a:ln w="381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6095C9"/>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6095C9"/>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6095C9"/>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00882B"/>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1068"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Shape 15"/>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16" name="Shape 16"/>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1568485279"/>
      </p:ext>
    </p:extLst>
  </p:cSld>
  <p:clrMap bg1="lt1" tx1="dk1" bg2="lt2" tx2="dk2" accent1="accent1" accent2="accent2" accent3="accent3" accent4="accent4" accent5="accent5" accent6="accent6" hlink="hlink" folHlink="folHlink"/>
  <p:notesStyle>
    <a:lvl1pPr>
      <a:defRPr sz="1200">
        <a:uFill>
          <a:solidFill/>
        </a:uFill>
        <a:latin typeface="+mn-lt"/>
        <a:ea typeface="+mn-ea"/>
        <a:cs typeface="+mn-cs"/>
        <a:sym typeface="Calibri"/>
      </a:defRPr>
    </a:lvl1pPr>
    <a:lvl2pPr indent="228600">
      <a:defRPr sz="1200">
        <a:uFill>
          <a:solidFill/>
        </a:uFill>
        <a:latin typeface="+mn-lt"/>
        <a:ea typeface="+mn-ea"/>
        <a:cs typeface="+mn-cs"/>
        <a:sym typeface="Calibri"/>
      </a:defRPr>
    </a:lvl2pPr>
    <a:lvl3pPr indent="457200">
      <a:defRPr sz="1200">
        <a:uFill>
          <a:solidFill/>
        </a:uFill>
        <a:latin typeface="+mn-lt"/>
        <a:ea typeface="+mn-ea"/>
        <a:cs typeface="+mn-cs"/>
        <a:sym typeface="Calibri"/>
      </a:defRPr>
    </a:lvl3pPr>
    <a:lvl4pPr indent="685800">
      <a:defRPr sz="1200">
        <a:uFill>
          <a:solidFill/>
        </a:uFill>
        <a:latin typeface="+mn-lt"/>
        <a:ea typeface="+mn-ea"/>
        <a:cs typeface="+mn-cs"/>
        <a:sym typeface="Calibri"/>
      </a:defRPr>
    </a:lvl4pPr>
    <a:lvl5pPr indent="914400">
      <a:defRPr sz="1200">
        <a:uFill>
          <a:solidFill/>
        </a:uFill>
        <a:latin typeface="+mn-lt"/>
        <a:ea typeface="+mn-ea"/>
        <a:cs typeface="+mn-cs"/>
        <a:sym typeface="Calibri"/>
      </a:defRPr>
    </a:lvl5pPr>
    <a:lvl6pPr indent="1143000">
      <a:defRPr sz="1200">
        <a:uFill>
          <a:solidFill/>
        </a:uFill>
        <a:latin typeface="+mn-lt"/>
        <a:ea typeface="+mn-ea"/>
        <a:cs typeface="+mn-cs"/>
        <a:sym typeface="Calibri"/>
      </a:defRPr>
    </a:lvl6pPr>
    <a:lvl7pPr indent="1371600">
      <a:defRPr sz="1200">
        <a:uFill>
          <a:solidFill/>
        </a:uFill>
        <a:latin typeface="+mn-lt"/>
        <a:ea typeface="+mn-ea"/>
        <a:cs typeface="+mn-cs"/>
        <a:sym typeface="Calibri"/>
      </a:defRPr>
    </a:lvl7pPr>
    <a:lvl8pPr indent="1600200">
      <a:defRPr sz="1200">
        <a:uFill>
          <a:solidFill/>
        </a:uFill>
        <a:latin typeface="+mn-lt"/>
        <a:ea typeface="+mn-ea"/>
        <a:cs typeface="+mn-cs"/>
        <a:sym typeface="Calibri"/>
      </a:defRPr>
    </a:lvl8pPr>
    <a:lvl9pPr indent="1828800">
      <a:defRPr sz="1200">
        <a:uFill>
          <a:solidFill/>
        </a:uFill>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en.wikipedia.org/wiki/System_context_diagram"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en.wikipedia.org/wiki/System_context_diagram"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prstGeom prst="rect">
            <a:avLst/>
          </a:prstGeom>
        </p:spPr>
        <p:txBody>
          <a:bodyPr/>
          <a:lstStyle/>
          <a:p>
            <a:pPr lvl="0"/>
            <a:endParaRPr/>
          </a:p>
        </p:txBody>
      </p:sp>
      <p:sp>
        <p:nvSpPr>
          <p:cNvPr id="28" name="Shape 28"/>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Project name – pick a cool sounding name for your project</a:t>
            </a:r>
          </a:p>
          <a:p>
            <a:pPr lvl="0">
              <a:buClr>
                <a:srgbClr val="000000"/>
              </a:buClr>
              <a:defRPr sz="1800">
                <a:uFillTx/>
              </a:defRPr>
            </a:pPr>
            <a:r>
              <a:rPr sz="1200">
                <a:uFill>
                  <a:solidFill/>
                </a:uFill>
              </a:rPr>
              <a:t>Sponsors – list your project sponsors here (the people with the money)</a:t>
            </a:r>
          </a:p>
          <a:p>
            <a:pPr lvl="0">
              <a:buClr>
                <a:srgbClr val="000000"/>
              </a:buClr>
              <a:defRPr sz="1800">
                <a:uFillTx/>
              </a:defRPr>
            </a:pPr>
            <a:endParaRPr sz="1200">
              <a:uFill>
                <a:solidFill/>
              </a:uFill>
            </a:endParaRPr>
          </a:p>
          <a:p>
            <a:pPr lvl="0">
              <a:buClr>
                <a:srgbClr val="000000"/>
              </a:buClr>
              <a:defRPr sz="1800">
                <a:uFillTx/>
              </a:defRPr>
            </a:pPr>
            <a:r>
              <a:rPr sz="1200">
                <a:uFill>
                  <a:solidFill/>
                </a:uFill>
              </a:rPr>
              <a:t>Putting your sponsors name boldly out there for all to see is a great way to get their engagement and attention (necessary for any successful project).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noRot="1" noChangeAspect="1"/>
          </p:cNvSpPr>
          <p:nvPr>
            <p:ph type="sldImg"/>
          </p:nvPr>
        </p:nvSpPr>
        <p:spPr>
          <a:prstGeom prst="rect">
            <a:avLst/>
          </a:prstGeom>
        </p:spPr>
        <p:txBody>
          <a:bodyPr/>
          <a:lstStyle/>
          <a:p>
            <a:pPr lvl="0"/>
            <a:endParaRPr/>
          </a:p>
        </p:txBody>
      </p:sp>
      <p:sp>
        <p:nvSpPr>
          <p:cNvPr id="77" name="Shape 77"/>
          <p:cNvSpPr>
            <a:spLocks noGrp="1"/>
          </p:cNvSpPr>
          <p:nvPr>
            <p:ph type="body" sz="quarter" idx="1"/>
          </p:nvPr>
        </p:nvSpPr>
        <p:spPr>
          <a:prstGeom prst="rect">
            <a:avLst/>
          </a:prstGeom>
        </p:spPr>
        <p:txBody>
          <a:bodyPr/>
          <a:lstStyle/>
          <a:p>
            <a:pPr lvl="0">
              <a:buClr>
                <a:srgbClr val="000000"/>
              </a:buClr>
              <a:defRPr sz="1800">
                <a:uFillTx/>
              </a:defRPr>
            </a:pPr>
            <a:r>
              <a:rPr lang="en-CA" sz="1200">
                <a:uFill>
                  <a:solidFill/>
                </a:uFill>
              </a:rPr>
              <a:t>Include</a:t>
            </a:r>
            <a:r>
              <a:rPr lang="en-CA" sz="1200" baseline="0">
                <a:uFill>
                  <a:solidFill/>
                </a:uFill>
              </a:rPr>
              <a:t> the context diagram here</a:t>
            </a:r>
          </a:p>
          <a:p>
            <a:pPr lvl="0">
              <a:buClr>
                <a:srgbClr val="000000"/>
              </a:buClr>
              <a:defRPr sz="1800">
                <a:uFillTx/>
              </a:defRPr>
            </a:pPr>
            <a:r>
              <a:rPr lang="en-CA" sz="1200" baseline="0">
                <a:uFill>
                  <a:solidFill/>
                </a:uFill>
              </a:rPr>
              <a:t>See: </a:t>
            </a:r>
            <a:r>
              <a:rPr lang="en-CA" sz="1800">
                <a:uFill>
                  <a:solidFill/>
                </a:uFill>
                <a:latin typeface="+mn-lt"/>
                <a:ea typeface="+mn-ea"/>
                <a:cs typeface="+mn-cs"/>
                <a:sym typeface="Calibri"/>
                <a:hlinkClick r:id="rId3"/>
              </a:rPr>
              <a:t>https://en.wikipedia.org/wiki/System_context_diagram</a:t>
            </a:r>
            <a:r>
              <a:rPr lang="en-CA" sz="1800">
                <a:uFill>
                  <a:solidFill/>
                </a:uFill>
                <a:latin typeface="+mn-lt"/>
                <a:ea typeface="+mn-ea"/>
                <a:cs typeface="+mn-cs"/>
                <a:sym typeface="Calibri"/>
              </a:rPr>
              <a:t> for details</a:t>
            </a:r>
            <a:endParaRPr sz="1200">
              <a:uFill>
                <a:solidFill/>
              </a:u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noRot="1" noChangeAspect="1"/>
          </p:cNvSpPr>
          <p:nvPr>
            <p:ph type="sldImg"/>
          </p:nvPr>
        </p:nvSpPr>
        <p:spPr>
          <a:prstGeom prst="rect">
            <a:avLst/>
          </a:prstGeom>
        </p:spPr>
        <p:txBody>
          <a:bodyPr/>
          <a:lstStyle/>
          <a:p>
            <a:pPr lvl="0"/>
            <a:endParaRPr/>
          </a:p>
        </p:txBody>
      </p:sp>
      <p:sp>
        <p:nvSpPr>
          <p:cNvPr id="77" name="Shape 77"/>
          <p:cNvSpPr>
            <a:spLocks noGrp="1"/>
          </p:cNvSpPr>
          <p:nvPr>
            <p:ph type="body" sz="quarter" idx="1"/>
          </p:nvPr>
        </p:nvSpPr>
        <p:spPr>
          <a:prstGeom prst="rect">
            <a:avLst/>
          </a:prstGeom>
        </p:spPr>
        <p:txBody>
          <a:bodyPr/>
          <a:lstStyle/>
          <a:p>
            <a:pPr lvl="0">
              <a:buClr>
                <a:srgbClr val="000000"/>
              </a:buClr>
              <a:defRPr sz="1800">
                <a:uFillTx/>
              </a:defRPr>
            </a:pPr>
            <a:r>
              <a:rPr lang="en-CA" sz="1200">
                <a:uFill>
                  <a:solidFill/>
                </a:uFill>
              </a:rPr>
              <a:t>Include</a:t>
            </a:r>
            <a:r>
              <a:rPr lang="en-CA" sz="1200" baseline="0">
                <a:uFill>
                  <a:solidFill/>
                </a:uFill>
              </a:rPr>
              <a:t> the context diagram here</a:t>
            </a:r>
          </a:p>
          <a:p>
            <a:pPr lvl="0">
              <a:buClr>
                <a:srgbClr val="000000"/>
              </a:buClr>
              <a:defRPr sz="1800">
                <a:uFillTx/>
              </a:defRPr>
            </a:pPr>
            <a:r>
              <a:rPr lang="en-CA" sz="1200" baseline="0">
                <a:uFill>
                  <a:solidFill/>
                </a:uFill>
              </a:rPr>
              <a:t>See: </a:t>
            </a:r>
            <a:r>
              <a:rPr lang="en-CA" sz="1800">
                <a:uFill>
                  <a:solidFill/>
                </a:uFill>
                <a:latin typeface="+mn-lt"/>
                <a:ea typeface="+mn-ea"/>
                <a:cs typeface="+mn-cs"/>
                <a:sym typeface="Calibri"/>
                <a:hlinkClick r:id="rId3"/>
              </a:rPr>
              <a:t>https://en.wikipedia.org/wiki/System_context_diagram</a:t>
            </a:r>
            <a:r>
              <a:rPr lang="en-CA" sz="1800">
                <a:uFill>
                  <a:solidFill/>
                </a:uFill>
                <a:latin typeface="+mn-lt"/>
                <a:ea typeface="+mn-ea"/>
                <a:cs typeface="+mn-cs"/>
                <a:sym typeface="Calibri"/>
              </a:rPr>
              <a:t> for details</a:t>
            </a:r>
            <a:endParaRPr sz="1200">
              <a:uFill>
                <a:solidFill/>
              </a:uFill>
            </a:endParaRPr>
          </a:p>
        </p:txBody>
      </p:sp>
    </p:spTree>
    <p:extLst>
      <p:ext uri="{BB962C8B-B14F-4D97-AF65-F5344CB8AC3E}">
        <p14:creationId xmlns:p14="http://schemas.microsoft.com/office/powerpoint/2010/main" val="2088048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61"/>
          <p:cNvSpPr>
            <a:spLocks noGrp="1" noRot="1" noChangeAspect="1"/>
          </p:cNvSpPr>
          <p:nvPr>
            <p:ph type="sldImg"/>
          </p:nvPr>
        </p:nvSpPr>
        <p:spPr>
          <a:prstGeom prst="rect">
            <a:avLst/>
          </a:prstGeom>
        </p:spPr>
        <p:txBody>
          <a:bodyPr/>
          <a:lstStyle/>
          <a:p>
            <a:pPr lvl="0"/>
            <a:endParaRPr/>
          </a:p>
        </p:txBody>
      </p:sp>
      <p:sp>
        <p:nvSpPr>
          <p:cNvPr id="62" name="Shape 62"/>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List all the big ticket items you are (and are NOT) going to deliver within the scope of this project.</a:t>
            </a:r>
          </a:p>
          <a:p>
            <a:pPr lvl="0">
              <a:buClr>
                <a:srgbClr val="000000"/>
              </a:buClr>
              <a:defRPr sz="1800">
                <a:uFillTx/>
              </a:defRPr>
            </a:pPr>
            <a:r>
              <a:rPr sz="1200">
                <a:uFill>
                  <a:solidFill/>
                </a:uFill>
              </a:rPr>
              <a:t>Before starting your project move all the UNRESOLVED ones to either IN or OUT.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hape 101"/>
          <p:cNvSpPr>
            <a:spLocks noGrp="1" noRot="1" noChangeAspect="1"/>
          </p:cNvSpPr>
          <p:nvPr>
            <p:ph type="sldImg"/>
          </p:nvPr>
        </p:nvSpPr>
        <p:spPr>
          <a:prstGeom prst="rect">
            <a:avLst/>
          </a:prstGeom>
        </p:spPr>
        <p:txBody>
          <a:bodyPr/>
          <a:lstStyle/>
          <a:p>
            <a:pPr lvl="0"/>
            <a:endParaRPr/>
          </a:p>
        </p:txBody>
      </p:sp>
      <p:sp>
        <p:nvSpPr>
          <p:cNvPr id="102" name="Shape 102"/>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This is about letting people know how we plan on building this thing.</a:t>
            </a:r>
          </a:p>
          <a:p>
            <a:pPr lvl="0">
              <a:buClr>
                <a:srgbClr val="000000"/>
              </a:buClr>
              <a:defRPr sz="1800">
                <a:uFillTx/>
              </a:defRPr>
            </a:pPr>
            <a:r>
              <a:rPr sz="1200">
                <a:uFill>
                  <a:solidFill/>
                </a:uFill>
              </a:rPr>
              <a:t>If there are any tools or libraries assumptions you are making list them here.</a:t>
            </a:r>
          </a:p>
          <a:p>
            <a:pPr lvl="0">
              <a:buClr>
                <a:srgbClr val="000000"/>
              </a:buClr>
              <a:defRPr sz="1800">
                <a:uFillTx/>
              </a:defRPr>
            </a:pPr>
            <a:r>
              <a:rPr sz="1200">
                <a:uFill>
                  <a:solidFill/>
                </a:uFill>
              </a:rPr>
              <a:t>Also if there are areas of the application architecture that are risky highlight those too.</a:t>
            </a:r>
            <a:endParaRPr lang="en-CA" sz="1200">
              <a:uFill>
                <a:solidFill/>
              </a:uFill>
            </a:endParaRPr>
          </a:p>
          <a:p>
            <a:pPr lvl="0">
              <a:buClr>
                <a:srgbClr val="000000"/>
              </a:buClr>
              <a:defRPr sz="1800">
                <a:uFillTx/>
              </a:defRPr>
            </a:pPr>
            <a:r>
              <a:rPr lang="en-CA" sz="1200">
                <a:uFill>
                  <a:solidFill/>
                </a:uFill>
              </a:rPr>
              <a:t>This is to end up looking like a high level deployment diagram.  Show the user the key pieces, DB server, web server, browser and let them know where code is running.</a:t>
            </a:r>
          </a:p>
          <a:p>
            <a:pPr lvl="0">
              <a:buClr>
                <a:srgbClr val="000000"/>
              </a:buClr>
              <a:defRPr sz="1800">
                <a:uFillTx/>
              </a:defRPr>
            </a:pPr>
            <a:r>
              <a:rPr lang="en-CA" sz="1200">
                <a:uFill>
                  <a:solidFill/>
                </a:uFill>
              </a:rPr>
              <a:t>Doesn’t have to be a formal deployment, but convey the platforms.</a:t>
            </a:r>
          </a:p>
          <a:p>
            <a:pPr lvl="0">
              <a:buClr>
                <a:srgbClr val="000000"/>
              </a:buClr>
              <a:defRPr sz="1800">
                <a:uFillTx/>
              </a:defRPr>
            </a:pPr>
            <a:r>
              <a:rPr lang="en-CA" sz="1200">
                <a:uFill>
                  <a:solidFill/>
                </a:uFill>
              </a:rPr>
              <a:t>Get browser requirements if a web application.</a:t>
            </a:r>
            <a:endParaRPr sz="1200">
              <a:uFill>
                <a:solidFill/>
              </a:u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109"/>
          <p:cNvSpPr>
            <a:spLocks noGrp="1" noRot="1" noChangeAspect="1"/>
          </p:cNvSpPr>
          <p:nvPr>
            <p:ph type="sldImg"/>
          </p:nvPr>
        </p:nvSpPr>
        <p:spPr>
          <a:prstGeom prst="rect">
            <a:avLst/>
          </a:prstGeom>
        </p:spPr>
        <p:txBody>
          <a:bodyPr/>
          <a:lstStyle/>
          <a:p>
            <a:pPr lvl="0"/>
            <a:endParaRPr/>
          </a:p>
        </p:txBody>
      </p:sp>
      <p:sp>
        <p:nvSpPr>
          <p:cNvPr id="110" name="Shape 110"/>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This is your chance to call out any craziness you’ve heard while building the deck, and having a frank conversation with your sponsors and your team about how you are going to handle it.</a:t>
            </a:r>
          </a:p>
          <a:p>
            <a:pPr lvl="0">
              <a:buClr>
                <a:srgbClr val="000000"/>
              </a:buClr>
              <a:defRPr sz="1800">
                <a:uFillTx/>
              </a:defRPr>
            </a:pPr>
            <a:r>
              <a:rPr sz="1200">
                <a:uFill>
                  <a:solidFill/>
                </a:uFill>
              </a:rPr>
              <a:t>This is perhaps on of the most powerful slides in the deck – it’s your chance to ask for whatever you need to be successful and the consequences if you don’t get it.</a:t>
            </a:r>
          </a:p>
          <a:p>
            <a:pPr lvl="0">
              <a:buClr>
                <a:srgbClr val="000000"/>
              </a:buClr>
              <a:defRPr sz="1800">
                <a:uFillTx/>
              </a:defRPr>
            </a:pPr>
            <a:r>
              <a:rPr sz="1200">
                <a:uFill>
                  <a:solidFill/>
                </a:uFill>
              </a:rPr>
              <a:t>Use it!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prstGeom prst="rect">
            <a:avLst/>
          </a:prstGeom>
        </p:spPr>
        <p:txBody>
          <a:bodyPr/>
          <a:lstStyle/>
          <a:p>
            <a:pPr lvl="0"/>
            <a:endParaRPr/>
          </a:p>
        </p:txBody>
      </p:sp>
      <p:sp>
        <p:nvSpPr>
          <p:cNvPr id="135" name="Shape 135"/>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Give your sponsors some idea of how big this thing is (1, 3, or 6 </a:t>
            </a:r>
            <a:r>
              <a:rPr sz="1200" err="1">
                <a:uFill>
                  <a:solidFill/>
                </a:uFill>
              </a:rPr>
              <a:t>monther</a:t>
            </a:r>
            <a:r>
              <a:rPr sz="1200">
                <a:uFill>
                  <a:solidFill/>
                </a:uFill>
              </a:rPr>
              <a:t>).</a:t>
            </a:r>
          </a:p>
          <a:p>
            <a:pPr lvl="0">
              <a:buClr>
                <a:srgbClr val="000000"/>
              </a:buClr>
              <a:defRPr sz="1800">
                <a:uFillTx/>
              </a:defRPr>
            </a:pPr>
            <a:r>
              <a:rPr sz="1200">
                <a:uFill>
                  <a:solidFill/>
                </a:uFill>
              </a:rPr>
              <a:t>Before you can complete this slide you and the team should create and estimate a high-level story list for the project.</a:t>
            </a:r>
          </a:p>
          <a:p>
            <a:pPr lvl="0">
              <a:buClr>
                <a:srgbClr val="000000"/>
              </a:buClr>
              <a:defRPr sz="1800">
                <a:uFillTx/>
              </a:defRPr>
            </a:pPr>
            <a:r>
              <a:rPr sz="1200">
                <a:uFill>
                  <a:solidFill/>
                </a:uFill>
              </a:rPr>
              <a:t>This isn’t a commitment (too many unknowns). It’s just a really rough guess. Don’t treat it as anything else.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noRot="1" noChangeAspect="1"/>
          </p:cNvSpPr>
          <p:nvPr>
            <p:ph type="sldImg"/>
          </p:nvPr>
        </p:nvSpPr>
        <p:spPr>
          <a:prstGeom prst="rect">
            <a:avLst/>
          </a:prstGeom>
        </p:spPr>
        <p:txBody>
          <a:bodyPr/>
          <a:lstStyle/>
          <a:p>
            <a:pPr lvl="0"/>
            <a:endParaRPr/>
          </a:p>
        </p:txBody>
      </p:sp>
      <p:sp>
        <p:nvSpPr>
          <p:cNvPr id="207" name="Shape 207"/>
          <p:cNvSpPr>
            <a:spLocks noGrp="1"/>
          </p:cNvSpPr>
          <p:nvPr>
            <p:ph type="body" sz="quarter" idx="1"/>
          </p:nvPr>
        </p:nvSpPr>
        <p:spPr>
          <a:prstGeom prst="rect">
            <a:avLst/>
          </a:prstGeom>
        </p:spPr>
        <p:txBody>
          <a:bodyPr/>
          <a:lstStyle/>
          <a:p>
            <a:pPr lvl="0">
              <a:buClr>
                <a:srgbClr val="000000"/>
              </a:buClr>
              <a:defRPr sz="1800">
                <a:uFillTx/>
              </a:defRPr>
            </a:pPr>
            <a:r>
              <a:rPr sz="200">
                <a:uFill>
                  <a:solidFill/>
                </a:uFill>
              </a:rPr>
              <a:t>When push comes to shove, something has to give. Here we want to be clear on what that is.</a:t>
            </a:r>
            <a:endParaRPr sz="1200">
              <a:uFill>
                <a:solidFill/>
              </a:uFill>
            </a:endParaRPr>
          </a:p>
          <a:p>
            <a:pPr lvl="0">
              <a:buClr>
                <a:srgbClr val="000000"/>
              </a:buClr>
              <a:defRPr sz="1800">
                <a:uFillTx/>
              </a:defRPr>
            </a:pPr>
            <a:endParaRPr sz="200">
              <a:uFill>
                <a:solidFill/>
              </a:uFill>
            </a:endParaRPr>
          </a:p>
          <a:p>
            <a:pPr lvl="0">
              <a:buClr>
                <a:srgbClr val="000000"/>
              </a:buClr>
              <a:defRPr sz="1800">
                <a:uFillTx/>
              </a:defRPr>
            </a:pPr>
            <a:r>
              <a:rPr sz="200">
                <a:uFill>
                  <a:solidFill/>
                </a:uFill>
              </a:rPr>
              <a:t>On agile projects we flex on scope. But there could be others factors at play here so get ready to listen as you customer tells you which forces can bend (scope) and which are written in stone (usually budget).</a:t>
            </a:r>
            <a:endParaRPr sz="1200">
              <a:uFill>
                <a:solidFill/>
              </a:uFill>
            </a:endParaRPr>
          </a:p>
          <a:p>
            <a:pPr lvl="0">
              <a:buClr>
                <a:srgbClr val="000000"/>
              </a:buClr>
              <a:defRPr sz="1800">
                <a:uFillTx/>
              </a:defRPr>
            </a:pPr>
            <a:endParaRPr sz="200">
              <a:uFill>
                <a:solidFill/>
              </a:uFill>
            </a:endParaRPr>
          </a:p>
          <a:p>
            <a:pPr lvl="0">
              <a:buClr>
                <a:srgbClr val="000000"/>
              </a:buClr>
              <a:defRPr sz="1800">
                <a:uFillTx/>
              </a:defRPr>
            </a:pPr>
            <a:r>
              <a:rPr sz="1000">
                <a:uFill>
                  <a:solidFill/>
                </a:uFill>
              </a:rPr>
              <a:t>Slider rules:</a:t>
            </a:r>
            <a:endParaRPr sz="1200">
              <a:uFill>
                <a:solidFill/>
              </a:uFill>
            </a:endParaRPr>
          </a:p>
          <a:p>
            <a:pPr lvl="0">
              <a:buClr>
                <a:srgbClr val="000000"/>
              </a:buClr>
              <a:defRPr sz="1800">
                <a:uFillTx/>
              </a:defRPr>
            </a:pPr>
            <a:r>
              <a:rPr sz="1000">
                <a:uFill>
                  <a:solidFill/>
                </a:uFill>
              </a:rPr>
              <a:t>1. No two sliders can </a:t>
            </a:r>
            <a:r>
              <a:rPr sz="200">
                <a:uFill>
                  <a:solidFill/>
                </a:uFill>
              </a:rPr>
              <a:t>occupy the same level.</a:t>
            </a:r>
            <a:endParaRPr sz="1200">
              <a:uFill>
                <a:solidFill/>
              </a:uFill>
            </a:endParaRPr>
          </a:p>
          <a:p>
            <a:pPr lvl="0">
              <a:buClr>
                <a:srgbClr val="000000"/>
              </a:buClr>
              <a:defRPr sz="1800">
                <a:uFillTx/>
              </a:defRPr>
            </a:pPr>
            <a:r>
              <a:rPr sz="200">
                <a:uFill>
                  <a:solidFill/>
                </a:uFill>
              </a:rPr>
              <a:t>2. List other important project factors down below.</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87936-3217-17F3-4920-BC2C0699E52B}"/>
            </a:ext>
          </a:extLst>
        </p:cNvPr>
        <p:cNvGrpSpPr/>
        <p:nvPr/>
      </p:nvGrpSpPr>
      <p:grpSpPr>
        <a:xfrm>
          <a:off x="0" y="0"/>
          <a:ext cx="0" cy="0"/>
          <a:chOff x="0" y="0"/>
          <a:chExt cx="0" cy="0"/>
        </a:xfrm>
      </p:grpSpPr>
      <p:sp>
        <p:nvSpPr>
          <p:cNvPr id="206" name="Shape 206">
            <a:extLst>
              <a:ext uri="{FF2B5EF4-FFF2-40B4-BE49-F238E27FC236}">
                <a16:creationId xmlns:a16="http://schemas.microsoft.com/office/drawing/2014/main" id="{FBB33CA5-DAF8-D6E7-DCFA-120798571746}"/>
              </a:ext>
            </a:extLst>
          </p:cNvPr>
          <p:cNvSpPr>
            <a:spLocks noGrp="1" noRot="1" noChangeAspect="1"/>
          </p:cNvSpPr>
          <p:nvPr>
            <p:ph type="sldImg"/>
          </p:nvPr>
        </p:nvSpPr>
        <p:spPr>
          <a:prstGeom prst="rect">
            <a:avLst/>
          </a:prstGeom>
        </p:spPr>
        <p:txBody>
          <a:bodyPr/>
          <a:lstStyle/>
          <a:p>
            <a:pPr lvl="0"/>
            <a:endParaRPr/>
          </a:p>
        </p:txBody>
      </p:sp>
      <p:sp>
        <p:nvSpPr>
          <p:cNvPr id="207" name="Shape 207">
            <a:extLst>
              <a:ext uri="{FF2B5EF4-FFF2-40B4-BE49-F238E27FC236}">
                <a16:creationId xmlns:a16="http://schemas.microsoft.com/office/drawing/2014/main" id="{827A248F-4C07-57F6-B65F-5A77C23CC42C}"/>
              </a:ext>
            </a:extLst>
          </p:cNvPr>
          <p:cNvSpPr>
            <a:spLocks noGrp="1"/>
          </p:cNvSpPr>
          <p:nvPr>
            <p:ph type="body" sz="quarter" idx="1"/>
          </p:nvPr>
        </p:nvSpPr>
        <p:spPr>
          <a:prstGeom prst="rect">
            <a:avLst/>
          </a:prstGeom>
        </p:spPr>
        <p:txBody>
          <a:bodyPr/>
          <a:lstStyle/>
          <a:p>
            <a:pPr lvl="0">
              <a:buClr>
                <a:srgbClr val="000000"/>
              </a:buClr>
              <a:defRPr sz="1800">
                <a:uFillTx/>
              </a:defRPr>
            </a:pPr>
            <a:r>
              <a:rPr lang="en-US" sz="200">
                <a:uFill>
                  <a:solidFill/>
                </a:uFill>
              </a:rPr>
              <a:t>Go over this board with the Client, Evaluate whether or not the priorities where properly evaluated and listed in order of priority. </a:t>
            </a:r>
          </a:p>
          <a:p>
            <a:pPr lvl="0">
              <a:buClr>
                <a:srgbClr val="000000"/>
              </a:buClr>
              <a:defRPr sz="1800">
                <a:uFillTx/>
              </a:defRPr>
            </a:pPr>
            <a:endParaRPr lang="en-US" sz="200">
              <a:uFill>
                <a:solidFill/>
              </a:uFill>
            </a:endParaRPr>
          </a:p>
          <a:p>
            <a:pPr lvl="0">
              <a:buClr>
                <a:srgbClr val="000000"/>
              </a:buClr>
              <a:defRPr sz="1800">
                <a:uFillTx/>
              </a:defRPr>
            </a:pPr>
            <a:r>
              <a:rPr lang="en-US" sz="200">
                <a:uFill>
                  <a:solidFill/>
                </a:uFill>
              </a:rPr>
              <a:t>Make modifications based upon the feedback of the client.</a:t>
            </a:r>
          </a:p>
        </p:txBody>
      </p:sp>
    </p:spTree>
    <p:extLst>
      <p:ext uri="{BB962C8B-B14F-4D97-AF65-F5344CB8AC3E}">
        <p14:creationId xmlns:p14="http://schemas.microsoft.com/office/powerpoint/2010/main" val="1365167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 Title Slide">
    <p:spTree>
      <p:nvGrpSpPr>
        <p:cNvPr id="1" name=""/>
        <p:cNvGrpSpPr/>
        <p:nvPr/>
      </p:nvGrpSpPr>
      <p:grpSpPr>
        <a:xfrm>
          <a:off x="0" y="0"/>
          <a:ext cx="0" cy="0"/>
          <a:chOff x="0" y="0"/>
          <a:chExt cx="0" cy="0"/>
        </a:xfrm>
      </p:grpSpPr>
      <p:pic>
        <p:nvPicPr>
          <p:cNvPr id="7" name="image1.png"/>
          <p:cNvPicPr/>
          <p:nvPr/>
        </p:nvPicPr>
        <p:blipFill>
          <a:blip r:embed="rId2"/>
          <a:stretch>
            <a:fillRect/>
          </a:stretch>
        </p:blipFill>
        <p:spPr>
          <a:xfrm>
            <a:off x="7848600" y="6311900"/>
            <a:ext cx="1117600" cy="393700"/>
          </a:xfrm>
          <a:prstGeom prst="rect">
            <a:avLst/>
          </a:prstGeom>
          <a:ln w="12700">
            <a:miter lim="400000"/>
          </a:ln>
        </p:spPr>
      </p:pic>
      <p:sp>
        <p:nvSpPr>
          <p:cNvPr id="8" name="Shape 8"/>
          <p:cNvSpPr>
            <a:spLocks noGrp="1"/>
          </p:cNvSpPr>
          <p:nvPr>
            <p:ph type="title"/>
          </p:nvPr>
        </p:nvSpPr>
        <p:spPr>
          <a:xfrm>
            <a:off x="685800" y="2130425"/>
            <a:ext cx="7772400" cy="1470025"/>
          </a:xfrm>
          <a:prstGeom prst="rect">
            <a:avLst/>
          </a:prstGeom>
        </p:spPr>
        <p:txBody>
          <a:bodyPr/>
          <a:lstStyle/>
          <a:p>
            <a:pPr lvl="0">
              <a:defRPr sz="1800">
                <a:solidFill>
                  <a:srgbClr val="000000"/>
                </a:solidFill>
                <a:uFillTx/>
              </a:defRPr>
            </a:pPr>
            <a:r>
              <a:rPr sz="4400">
                <a:solidFill>
                  <a:srgbClr val="1D4871"/>
                </a:solidFill>
                <a:uFill>
                  <a:solidFill>
                    <a:srgbClr val="1D4871"/>
                  </a:solidFill>
                </a:uFill>
              </a:rPr>
              <a:t>Title Text</a:t>
            </a:r>
          </a:p>
        </p:txBody>
      </p:sp>
      <p:sp>
        <p:nvSpPr>
          <p:cNvPr id="9" name="Shape 9"/>
          <p:cNvSpPr>
            <a:spLocks noGrp="1"/>
          </p:cNvSpPr>
          <p:nvPr>
            <p:ph type="body" idx="1"/>
          </p:nvPr>
        </p:nvSpPr>
        <p:spPr>
          <a:xfrm>
            <a:off x="1371600" y="3886200"/>
            <a:ext cx="6400800" cy="1752600"/>
          </a:xfrm>
          <a:prstGeom prst="rect">
            <a:avLst/>
          </a:prstGeom>
        </p:spPr>
        <p:txBody>
          <a:bodyPr/>
          <a:lstStyle>
            <a:lvl1pPr marL="0" indent="0" algn="ctr">
              <a:buClr>
                <a:srgbClr val="9A9A9A"/>
              </a:buClr>
              <a:buSzTx/>
              <a:buFontTx/>
              <a:buNone/>
              <a:defRPr>
                <a:solidFill>
                  <a:srgbClr val="9A9A9A"/>
                </a:solidFill>
                <a:uFill>
                  <a:solidFill>
                    <a:srgbClr val="9A9A9A"/>
                  </a:solidFill>
                </a:uFill>
              </a:defRPr>
            </a:lvl1pPr>
            <a:lvl2pPr marL="457200" indent="0" algn="ctr">
              <a:spcBef>
                <a:spcPts val="600"/>
              </a:spcBef>
              <a:buClr>
                <a:srgbClr val="9A9A9A"/>
              </a:buClr>
              <a:buSzTx/>
              <a:buFontTx/>
              <a:buNone/>
              <a:defRPr sz="2800">
                <a:solidFill>
                  <a:srgbClr val="9A9A9A"/>
                </a:solidFill>
                <a:uFill>
                  <a:solidFill>
                    <a:srgbClr val="9A9A9A"/>
                  </a:solidFill>
                </a:uFill>
              </a:defRPr>
            </a:lvl2pPr>
            <a:lvl3pPr marL="914400" indent="0" algn="ctr">
              <a:spcBef>
                <a:spcPts val="500"/>
              </a:spcBef>
              <a:buClr>
                <a:srgbClr val="9A9A9A"/>
              </a:buClr>
              <a:buSzTx/>
              <a:buFontTx/>
              <a:buNone/>
              <a:defRPr sz="2400">
                <a:solidFill>
                  <a:srgbClr val="9A9A9A"/>
                </a:solidFill>
                <a:uFill>
                  <a:solidFill>
                    <a:srgbClr val="9A9A9A"/>
                  </a:solidFill>
                </a:uFill>
              </a:defRPr>
            </a:lvl3pPr>
            <a:lvl4pPr marL="1371600" indent="0" algn="ctr">
              <a:spcBef>
                <a:spcPts val="400"/>
              </a:spcBef>
              <a:buClr>
                <a:srgbClr val="9A9A9A"/>
              </a:buClr>
              <a:buSzTx/>
              <a:buFontTx/>
              <a:buNone/>
              <a:defRPr sz="2000">
                <a:solidFill>
                  <a:srgbClr val="9A9A9A"/>
                </a:solidFill>
                <a:uFill>
                  <a:solidFill>
                    <a:srgbClr val="9A9A9A"/>
                  </a:solidFill>
                </a:uFill>
              </a:defRPr>
            </a:lvl4pPr>
            <a:lvl5pPr marL="1828800" indent="0" algn="ctr">
              <a:spcBef>
                <a:spcPts val="400"/>
              </a:spcBef>
              <a:buClr>
                <a:srgbClr val="9A9A9A"/>
              </a:buClr>
              <a:buSzTx/>
              <a:buFontTx/>
              <a:buNone/>
              <a:defRPr sz="2000">
                <a:solidFill>
                  <a:srgbClr val="9A9A9A"/>
                </a:solidFill>
                <a:uFill>
                  <a:solidFill>
                    <a:srgbClr val="9A9A9A"/>
                  </a:solidFill>
                </a:uFill>
              </a:defRPr>
            </a:lvl5pPr>
          </a:lstStyle>
          <a:p>
            <a:pPr lvl="0">
              <a:defRPr sz="1800">
                <a:solidFill>
                  <a:srgbClr val="000000"/>
                </a:solidFill>
                <a:uFillTx/>
              </a:defRPr>
            </a:pPr>
            <a:r>
              <a:rPr sz="3200">
                <a:solidFill>
                  <a:srgbClr val="9A9A9A"/>
                </a:solidFill>
                <a:uFill>
                  <a:solidFill>
                    <a:srgbClr val="9A9A9A"/>
                  </a:solidFill>
                </a:uFill>
              </a:rPr>
              <a:t>Body Level One</a:t>
            </a:r>
          </a:p>
          <a:p>
            <a:pPr lvl="1">
              <a:defRPr sz="1800">
                <a:solidFill>
                  <a:srgbClr val="000000"/>
                </a:solidFill>
                <a:uFillTx/>
              </a:defRPr>
            </a:pPr>
            <a:r>
              <a:rPr sz="2800">
                <a:solidFill>
                  <a:srgbClr val="9A9A9A"/>
                </a:solidFill>
                <a:uFill>
                  <a:solidFill>
                    <a:srgbClr val="9A9A9A"/>
                  </a:solidFill>
                </a:uFill>
              </a:rPr>
              <a:t>Body Level Two</a:t>
            </a:r>
          </a:p>
          <a:p>
            <a:pPr lvl="2">
              <a:defRPr sz="1800">
                <a:solidFill>
                  <a:srgbClr val="000000"/>
                </a:solidFill>
                <a:uFillTx/>
              </a:defRPr>
            </a:pPr>
            <a:r>
              <a:rPr sz="2400">
                <a:solidFill>
                  <a:srgbClr val="9A9A9A"/>
                </a:solidFill>
                <a:uFill>
                  <a:solidFill>
                    <a:srgbClr val="9A9A9A"/>
                  </a:solidFill>
                </a:uFill>
              </a:rPr>
              <a:t>Body Level Three</a:t>
            </a:r>
          </a:p>
          <a:p>
            <a:pPr lvl="3">
              <a:defRPr sz="1800">
                <a:solidFill>
                  <a:srgbClr val="000000"/>
                </a:solidFill>
                <a:uFillTx/>
              </a:defRPr>
            </a:pPr>
            <a:r>
              <a:rPr sz="2000">
                <a:solidFill>
                  <a:srgbClr val="9A9A9A"/>
                </a:solidFill>
                <a:uFill>
                  <a:solidFill>
                    <a:srgbClr val="9A9A9A"/>
                  </a:solidFill>
                </a:uFill>
              </a:rPr>
              <a:t>Body Level Four</a:t>
            </a:r>
          </a:p>
          <a:p>
            <a:pPr lvl="4">
              <a:defRPr sz="1800">
                <a:solidFill>
                  <a:srgbClr val="000000"/>
                </a:solidFill>
                <a:uFillTx/>
              </a:defRPr>
            </a:pPr>
            <a:r>
              <a:rPr sz="2000">
                <a:solidFill>
                  <a:srgbClr val="9A9A9A"/>
                </a:solidFill>
                <a:uFill>
                  <a:solidFill>
                    <a:srgbClr val="9A9A9A"/>
                  </a:solidFill>
                </a:uFill>
              </a:rPr>
              <a:t>Body Level Five</a:t>
            </a:r>
          </a:p>
        </p:txBody>
      </p:sp>
      <p:sp>
        <p:nvSpPr>
          <p:cNvPr id="10" name="Shape 10"/>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12" name="Shape 12"/>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Title Text</a:t>
            </a:r>
          </a:p>
        </p:txBody>
      </p:sp>
      <p:sp>
        <p:nvSpPr>
          <p:cNvPr id="13" name="Shape 13"/>
          <p:cNvSpPr>
            <a:spLocks noGrp="1"/>
          </p:cNvSpPr>
          <p:nvPr>
            <p:ph type="body" idx="1"/>
          </p:nvPr>
        </p:nvSpPr>
        <p:spPr>
          <a:prstGeom prst="rect">
            <a:avLst/>
          </a:prstGeom>
        </p:spPr>
        <p:txBody>
          <a:bodyPr/>
          <a:lstStyle>
            <a:lvl2pPr marL="742950" indent="-285750">
              <a:spcBef>
                <a:spcPts val="600"/>
              </a:spcBef>
              <a:buChar char="–"/>
              <a:defRPr sz="2800"/>
            </a:lvl2pPr>
            <a:lvl3pPr marL="1143000" indent="-228600">
              <a:spcBef>
                <a:spcPts val="500"/>
              </a:spcBef>
              <a:defRPr sz="2400"/>
            </a:lvl3pPr>
            <a:lvl4pPr marL="1600200" indent="-228600">
              <a:spcBef>
                <a:spcPts val="400"/>
              </a:spcBef>
              <a:buChar char="–"/>
              <a:defRPr sz="2000"/>
            </a:lvl4pPr>
            <a:lvl5pPr marL="2057400" indent="-228600">
              <a:spcBef>
                <a:spcPts val="400"/>
              </a:spcBef>
              <a:buChar char="»"/>
              <a:defRPr sz="2000"/>
            </a:lvl5pPr>
          </a:lstStyle>
          <a:p>
            <a:pPr lvl="0">
              <a:defRPr sz="1800">
                <a:uFillTx/>
              </a:defRPr>
            </a:pPr>
            <a:r>
              <a:rPr sz="3200">
                <a:uFill>
                  <a:solidFill/>
                </a:uFill>
              </a:rPr>
              <a:t>Body Level One</a:t>
            </a:r>
          </a:p>
          <a:p>
            <a:pPr lvl="1">
              <a:defRPr sz="1800">
                <a:uFillTx/>
              </a:defRPr>
            </a:pPr>
            <a:r>
              <a:rPr sz="2800">
                <a:uFill>
                  <a:solidFill/>
                </a:uFill>
              </a:rPr>
              <a:t>Body Level Two</a:t>
            </a:r>
          </a:p>
          <a:p>
            <a:pPr lvl="2">
              <a:defRPr sz="1800">
                <a:uFillTx/>
              </a:defRPr>
            </a:pPr>
            <a:r>
              <a:rPr sz="2400">
                <a:uFill>
                  <a:solidFill/>
                </a:uFill>
              </a:rPr>
              <a:t>Body Level Three</a:t>
            </a:r>
          </a:p>
          <a:p>
            <a:pPr lvl="3">
              <a:defRPr sz="1800">
                <a:uFillTx/>
              </a:defRPr>
            </a:pPr>
            <a:r>
              <a:rPr sz="2000">
                <a:uFill>
                  <a:solidFill/>
                </a:uFill>
              </a:rPr>
              <a:t>Body Level Four</a:t>
            </a:r>
          </a:p>
          <a:p>
            <a:pPr lvl="4">
              <a:defRPr sz="1800">
                <a:uFillTx/>
              </a:defRPr>
            </a:pPr>
            <a:r>
              <a:rPr sz="2000">
                <a:uFill>
                  <a:solidFill/>
                </a:uFill>
              </a:rPr>
              <a:t>Body Level Five</a:t>
            </a:r>
          </a:p>
        </p:txBody>
      </p:sp>
      <p:sp>
        <p:nvSpPr>
          <p:cNvPr id="14" name="Shape 14"/>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1.png"/>
          <p:cNvPicPr/>
          <p:nvPr/>
        </p:nvPicPr>
        <p:blipFill>
          <a:blip r:embed="rId4"/>
          <a:stretch>
            <a:fillRect/>
          </a:stretch>
        </p:blipFill>
        <p:spPr>
          <a:xfrm>
            <a:off x="7848600" y="6311900"/>
            <a:ext cx="1117600" cy="393700"/>
          </a:xfrm>
          <a:prstGeom prst="rect">
            <a:avLst/>
          </a:prstGeom>
          <a:ln w="12700">
            <a:miter lim="400000"/>
          </a:ln>
        </p:spPr>
      </p:pic>
      <p:sp>
        <p:nvSpPr>
          <p:cNvPr id="3" name="Shape 3"/>
          <p:cNvSpPr>
            <a:spLocks noGrp="1"/>
          </p:cNvSpPr>
          <p:nvPr>
            <p:ph type="title"/>
          </p:nvPr>
        </p:nvSpPr>
        <p:spPr>
          <a:xfrm>
            <a:off x="457200" y="274637"/>
            <a:ext cx="8229600" cy="1143001"/>
          </a:xfrm>
          <a:prstGeom prst="rect">
            <a:avLst/>
          </a:prstGeom>
          <a:ln w="12700">
            <a:round/>
          </a:ln>
          <a:extLst>
            <a:ext uri="{C572A759-6A51-4108-AA02-DFA0A04FC94B}">
              <ma14:wrappingTextBoxFlag xmlns:ma14="http://schemas.microsoft.com/office/mac/drawingml/2011/main" xmlns="" val="1"/>
            </a:ext>
          </a:extLst>
        </p:spPr>
        <p:txBody>
          <a:bodyPr lIns="38100" tIns="38100" rIns="38100" bIns="38100" anchor="ctr"/>
          <a:lstStyle/>
          <a:p>
            <a:pPr lvl="0">
              <a:defRPr sz="1800">
                <a:solidFill>
                  <a:srgbClr val="000000"/>
                </a:solidFill>
                <a:uFillTx/>
              </a:defRPr>
            </a:pPr>
            <a:r>
              <a:rPr sz="4400">
                <a:solidFill>
                  <a:srgbClr val="1D4871"/>
                </a:solidFill>
                <a:uFill>
                  <a:solidFill>
                    <a:srgbClr val="1D4871"/>
                  </a:solidFill>
                </a:uFill>
              </a:rPr>
              <a:t>Title Text</a:t>
            </a:r>
          </a:p>
        </p:txBody>
      </p:sp>
      <p:sp>
        <p:nvSpPr>
          <p:cNvPr id="4" name="Shape 4"/>
          <p:cNvSpPr>
            <a:spLocks noGrp="1"/>
          </p:cNvSpPr>
          <p:nvPr>
            <p:ph type="body" idx="1"/>
          </p:nvPr>
        </p:nvSpPr>
        <p:spPr>
          <a:xfrm>
            <a:off x="457200" y="1600199"/>
            <a:ext cx="8229600" cy="4525964"/>
          </a:xfrm>
          <a:prstGeom prst="rect">
            <a:avLst/>
          </a:prstGeom>
          <a:ln w="12700">
            <a:round/>
          </a:ln>
          <a:extLst>
            <a:ext uri="{C572A759-6A51-4108-AA02-DFA0A04FC94B}">
              <ma14:wrappingTextBoxFlag xmlns:ma14="http://schemas.microsoft.com/office/mac/drawingml/2011/main" xmlns="" val="1"/>
            </a:ext>
          </a:extLst>
        </p:spPr>
        <p:txBody>
          <a:bodyPr lIns="38100" tIns="38100" rIns="38100" bIns="38100"/>
          <a:lstStyle>
            <a:lvl2pPr marL="742950" indent="-285750">
              <a:spcBef>
                <a:spcPts val="600"/>
              </a:spcBef>
              <a:buChar char="–"/>
              <a:defRPr sz="2800"/>
            </a:lvl2pPr>
            <a:lvl3pPr marL="1143000" indent="-228600">
              <a:spcBef>
                <a:spcPts val="500"/>
              </a:spcBef>
              <a:defRPr sz="2400"/>
            </a:lvl3pPr>
            <a:lvl4pPr marL="1600200" indent="-228600">
              <a:spcBef>
                <a:spcPts val="400"/>
              </a:spcBef>
              <a:buChar char="–"/>
              <a:defRPr sz="2000"/>
            </a:lvl4pPr>
            <a:lvl5pPr marL="2057400" indent="-228600">
              <a:spcBef>
                <a:spcPts val="400"/>
              </a:spcBef>
              <a:buChar char="»"/>
              <a:defRPr sz="2000"/>
            </a:lvl5pPr>
          </a:lstStyle>
          <a:p>
            <a:pPr lvl="0">
              <a:defRPr sz="1800">
                <a:uFillTx/>
              </a:defRPr>
            </a:pPr>
            <a:r>
              <a:rPr sz="3200">
                <a:uFill>
                  <a:solidFill/>
                </a:uFill>
              </a:rPr>
              <a:t>Body Level One</a:t>
            </a:r>
          </a:p>
          <a:p>
            <a:pPr lvl="1">
              <a:defRPr sz="1800">
                <a:uFillTx/>
              </a:defRPr>
            </a:pPr>
            <a:r>
              <a:rPr sz="2800">
                <a:uFill>
                  <a:solidFill/>
                </a:uFill>
              </a:rPr>
              <a:t>Body Level Two</a:t>
            </a:r>
          </a:p>
          <a:p>
            <a:pPr lvl="2">
              <a:defRPr sz="1800">
                <a:uFillTx/>
              </a:defRPr>
            </a:pPr>
            <a:r>
              <a:rPr sz="2400">
                <a:uFill>
                  <a:solidFill/>
                </a:uFill>
              </a:rPr>
              <a:t>Body Level Three</a:t>
            </a:r>
          </a:p>
          <a:p>
            <a:pPr lvl="3">
              <a:defRPr sz="1800">
                <a:uFillTx/>
              </a:defRPr>
            </a:pPr>
            <a:r>
              <a:rPr sz="2000">
                <a:uFill>
                  <a:solidFill/>
                </a:uFill>
              </a:rPr>
              <a:t>Body Level Four</a:t>
            </a:r>
          </a:p>
          <a:p>
            <a:pPr lvl="4">
              <a:defRPr sz="1800">
                <a:uFillTx/>
              </a:defRPr>
            </a:pPr>
            <a:r>
              <a:rPr sz="2000">
                <a:uFill>
                  <a:solidFill/>
                </a:uFill>
              </a:rPr>
              <a:t>Body Level Five</a:t>
            </a:r>
          </a:p>
        </p:txBody>
      </p:sp>
      <p:sp>
        <p:nvSpPr>
          <p:cNvPr id="5" name="Shape 5"/>
          <p:cNvSpPr>
            <a:spLocks noGrp="1"/>
          </p:cNvSpPr>
          <p:nvPr>
            <p:ph type="sldNum" sz="quarter" idx="2"/>
          </p:nvPr>
        </p:nvSpPr>
        <p:spPr>
          <a:xfrm>
            <a:off x="8405167" y="6473825"/>
            <a:ext cx="281633" cy="266701"/>
          </a:xfrm>
          <a:prstGeom prst="rect">
            <a:avLst/>
          </a:prstGeom>
          <a:ln w="12700">
            <a:round/>
          </a:ln>
        </p:spPr>
        <p:txBody>
          <a:bodyPr wrap="none" lIns="38100" tIns="38100" rIns="38100" bIns="38100" anchor="ctr">
            <a:spAutoFit/>
          </a:bodyPr>
          <a:lstStyle>
            <a:lvl1pPr algn="r">
              <a:buClrTx/>
              <a:defRPr sz="1200">
                <a:solidFill>
                  <a:srgbClr val="9A9A9A"/>
                </a:solidFill>
                <a:uFill>
                  <a:solidFill>
                    <a:srgbClr val="9A9A9A"/>
                  </a:solidFill>
                </a:uFill>
              </a:defRPr>
            </a:lvl1pPr>
          </a:lstStyle>
          <a:p>
            <a:pPr lvl="0"/>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a:defRPr sz="4400">
          <a:solidFill>
            <a:srgbClr val="1D4871"/>
          </a:solidFill>
          <a:uFill>
            <a:solidFill>
              <a:srgbClr val="1D4871"/>
            </a:solidFill>
          </a:uFill>
          <a:latin typeface="+mn-lt"/>
          <a:ea typeface="+mn-ea"/>
          <a:cs typeface="+mn-cs"/>
          <a:sym typeface="Calibri"/>
        </a:defRPr>
      </a:lvl1pPr>
      <a:lvl2pPr indent="228600">
        <a:defRPr sz="4400">
          <a:solidFill>
            <a:srgbClr val="1D4871"/>
          </a:solidFill>
          <a:uFill>
            <a:solidFill>
              <a:srgbClr val="1D4871"/>
            </a:solidFill>
          </a:uFill>
          <a:latin typeface="+mn-lt"/>
          <a:ea typeface="+mn-ea"/>
          <a:cs typeface="+mn-cs"/>
          <a:sym typeface="Calibri"/>
        </a:defRPr>
      </a:lvl2pPr>
      <a:lvl3pPr indent="457200">
        <a:defRPr sz="4400">
          <a:solidFill>
            <a:srgbClr val="1D4871"/>
          </a:solidFill>
          <a:uFill>
            <a:solidFill>
              <a:srgbClr val="1D4871"/>
            </a:solidFill>
          </a:uFill>
          <a:latin typeface="+mn-lt"/>
          <a:ea typeface="+mn-ea"/>
          <a:cs typeface="+mn-cs"/>
          <a:sym typeface="Calibri"/>
        </a:defRPr>
      </a:lvl3pPr>
      <a:lvl4pPr indent="685800">
        <a:defRPr sz="4400">
          <a:solidFill>
            <a:srgbClr val="1D4871"/>
          </a:solidFill>
          <a:uFill>
            <a:solidFill>
              <a:srgbClr val="1D4871"/>
            </a:solidFill>
          </a:uFill>
          <a:latin typeface="+mn-lt"/>
          <a:ea typeface="+mn-ea"/>
          <a:cs typeface="+mn-cs"/>
          <a:sym typeface="Calibri"/>
        </a:defRPr>
      </a:lvl4pPr>
      <a:lvl5pPr indent="914400">
        <a:defRPr sz="4400">
          <a:solidFill>
            <a:srgbClr val="1D4871"/>
          </a:solidFill>
          <a:uFill>
            <a:solidFill>
              <a:srgbClr val="1D4871"/>
            </a:solidFill>
          </a:uFill>
          <a:latin typeface="+mn-lt"/>
          <a:ea typeface="+mn-ea"/>
          <a:cs typeface="+mn-cs"/>
          <a:sym typeface="Calibri"/>
        </a:defRPr>
      </a:lvl5pPr>
      <a:lvl6pPr indent="1143000">
        <a:defRPr sz="4400">
          <a:solidFill>
            <a:srgbClr val="1D4871"/>
          </a:solidFill>
          <a:uFill>
            <a:solidFill>
              <a:srgbClr val="1D4871"/>
            </a:solidFill>
          </a:uFill>
          <a:latin typeface="+mn-lt"/>
          <a:ea typeface="+mn-ea"/>
          <a:cs typeface="+mn-cs"/>
          <a:sym typeface="Calibri"/>
        </a:defRPr>
      </a:lvl6pPr>
      <a:lvl7pPr indent="1371600">
        <a:defRPr sz="4400">
          <a:solidFill>
            <a:srgbClr val="1D4871"/>
          </a:solidFill>
          <a:uFill>
            <a:solidFill>
              <a:srgbClr val="1D4871"/>
            </a:solidFill>
          </a:uFill>
          <a:latin typeface="+mn-lt"/>
          <a:ea typeface="+mn-ea"/>
          <a:cs typeface="+mn-cs"/>
          <a:sym typeface="Calibri"/>
        </a:defRPr>
      </a:lvl7pPr>
      <a:lvl8pPr indent="1600200">
        <a:defRPr sz="4400">
          <a:solidFill>
            <a:srgbClr val="1D4871"/>
          </a:solidFill>
          <a:uFill>
            <a:solidFill>
              <a:srgbClr val="1D4871"/>
            </a:solidFill>
          </a:uFill>
          <a:latin typeface="+mn-lt"/>
          <a:ea typeface="+mn-ea"/>
          <a:cs typeface="+mn-cs"/>
          <a:sym typeface="Calibri"/>
        </a:defRPr>
      </a:lvl8pPr>
      <a:lvl9pPr indent="1828800">
        <a:defRPr sz="4400">
          <a:solidFill>
            <a:srgbClr val="1D4871"/>
          </a:solidFill>
          <a:uFill>
            <a:solidFill>
              <a:srgbClr val="1D4871"/>
            </a:solidFill>
          </a:uFill>
          <a:latin typeface="+mn-lt"/>
          <a:ea typeface="+mn-ea"/>
          <a:cs typeface="+mn-cs"/>
          <a:sym typeface="Calibri"/>
        </a:defRPr>
      </a:lvl9pPr>
    </p:titleStyle>
    <p:bodyStyle>
      <a:lvl1pPr marL="342900" indent="-342900">
        <a:spcBef>
          <a:spcPts val="700"/>
        </a:spcBef>
        <a:buClr>
          <a:srgbClr val="000000"/>
        </a:buClr>
        <a:buSzPct val="100000"/>
        <a:buFont typeface="Arial"/>
        <a:buChar char="•"/>
        <a:defRPr sz="3200">
          <a:uFill>
            <a:solidFill/>
          </a:uFill>
          <a:latin typeface="+mn-lt"/>
          <a:ea typeface="+mn-ea"/>
          <a:cs typeface="+mn-cs"/>
          <a:sym typeface="Calibri"/>
        </a:defRPr>
      </a:lvl1pPr>
      <a:lvl2pPr marL="783771" indent="-326571">
        <a:spcBef>
          <a:spcPts val="700"/>
        </a:spcBef>
        <a:buClr>
          <a:srgbClr val="000000"/>
        </a:buClr>
        <a:buSzPct val="100000"/>
        <a:buFont typeface="Arial"/>
        <a:buChar char="•"/>
        <a:defRPr sz="3200">
          <a:uFill>
            <a:solidFill/>
          </a:uFill>
          <a:latin typeface="+mn-lt"/>
          <a:ea typeface="+mn-ea"/>
          <a:cs typeface="+mn-cs"/>
          <a:sym typeface="Calibri"/>
        </a:defRPr>
      </a:lvl2pPr>
      <a:lvl3pPr marL="1219200" indent="-304800">
        <a:spcBef>
          <a:spcPts val="700"/>
        </a:spcBef>
        <a:buClr>
          <a:srgbClr val="000000"/>
        </a:buClr>
        <a:buSzPct val="100000"/>
        <a:buFont typeface="Arial"/>
        <a:buChar char="•"/>
        <a:defRPr sz="3200">
          <a:uFill>
            <a:solidFill/>
          </a:uFill>
          <a:latin typeface="+mn-lt"/>
          <a:ea typeface="+mn-ea"/>
          <a:cs typeface="+mn-cs"/>
          <a:sym typeface="Calibri"/>
        </a:defRPr>
      </a:lvl3pPr>
      <a:lvl4pPr marL="1737360" indent="-365760">
        <a:spcBef>
          <a:spcPts val="700"/>
        </a:spcBef>
        <a:buClr>
          <a:srgbClr val="000000"/>
        </a:buClr>
        <a:buSzPct val="100000"/>
        <a:buFont typeface="Arial"/>
        <a:buChar char="•"/>
        <a:defRPr sz="3200">
          <a:uFill>
            <a:solidFill/>
          </a:uFill>
          <a:latin typeface="+mn-lt"/>
          <a:ea typeface="+mn-ea"/>
          <a:cs typeface="+mn-cs"/>
          <a:sym typeface="Calibri"/>
        </a:defRPr>
      </a:lvl4pPr>
      <a:lvl5pPr marL="2194560" indent="-365760">
        <a:spcBef>
          <a:spcPts val="700"/>
        </a:spcBef>
        <a:buClr>
          <a:srgbClr val="000000"/>
        </a:buClr>
        <a:buSzPct val="100000"/>
        <a:buFont typeface="Arial"/>
        <a:buChar char="•"/>
        <a:defRPr sz="3200">
          <a:uFill>
            <a:solidFill/>
          </a:uFill>
          <a:latin typeface="+mn-lt"/>
          <a:ea typeface="+mn-ea"/>
          <a:cs typeface="+mn-cs"/>
          <a:sym typeface="Calibri"/>
        </a:defRPr>
      </a:lvl5pPr>
      <a:lvl6pPr marL="3365500" indent="-914400">
        <a:spcBef>
          <a:spcPts val="700"/>
        </a:spcBef>
        <a:buClr>
          <a:srgbClr val="000000"/>
        </a:buClr>
        <a:buSzPct val="171000"/>
        <a:buFont typeface="Arial"/>
        <a:buChar char="•"/>
        <a:defRPr sz="3200">
          <a:uFill>
            <a:solidFill/>
          </a:uFill>
          <a:latin typeface="+mn-lt"/>
          <a:ea typeface="+mn-ea"/>
          <a:cs typeface="+mn-cs"/>
          <a:sym typeface="Calibri"/>
        </a:defRPr>
      </a:lvl6pPr>
      <a:lvl7pPr marL="3721100" indent="-914400">
        <a:spcBef>
          <a:spcPts val="700"/>
        </a:spcBef>
        <a:buClr>
          <a:srgbClr val="000000"/>
        </a:buClr>
        <a:buSzPct val="171000"/>
        <a:buFont typeface="Arial"/>
        <a:buChar char="•"/>
        <a:defRPr sz="3200">
          <a:uFill>
            <a:solidFill/>
          </a:uFill>
          <a:latin typeface="+mn-lt"/>
          <a:ea typeface="+mn-ea"/>
          <a:cs typeface="+mn-cs"/>
          <a:sym typeface="Calibri"/>
        </a:defRPr>
      </a:lvl7pPr>
      <a:lvl8pPr marL="4076700" indent="-914400">
        <a:spcBef>
          <a:spcPts val="700"/>
        </a:spcBef>
        <a:buClr>
          <a:srgbClr val="000000"/>
        </a:buClr>
        <a:buSzPct val="171000"/>
        <a:buFont typeface="Arial"/>
        <a:buChar char="•"/>
        <a:defRPr sz="3200">
          <a:uFill>
            <a:solidFill/>
          </a:uFill>
          <a:latin typeface="+mn-lt"/>
          <a:ea typeface="+mn-ea"/>
          <a:cs typeface="+mn-cs"/>
          <a:sym typeface="Calibri"/>
        </a:defRPr>
      </a:lvl8pPr>
      <a:lvl9pPr marL="4432300" indent="-914400">
        <a:spcBef>
          <a:spcPts val="700"/>
        </a:spcBef>
        <a:buClr>
          <a:srgbClr val="000000"/>
        </a:buClr>
        <a:buSzPct val="171000"/>
        <a:buFont typeface="Arial"/>
        <a:buChar char="•"/>
        <a:defRPr sz="3200">
          <a:uFill>
            <a:solidFill/>
          </a:uFill>
          <a:latin typeface="+mn-lt"/>
          <a:ea typeface="+mn-ea"/>
          <a:cs typeface="+mn-cs"/>
          <a:sym typeface="Calibri"/>
        </a:defRPr>
      </a:lvl9pPr>
    </p:bodyStyle>
    <p:otherStyle>
      <a:lvl1pPr algn="r">
        <a:defRPr sz="1200">
          <a:solidFill>
            <a:schemeClr val="tx1"/>
          </a:solidFill>
          <a:uFill>
            <a:solidFill>
              <a:srgbClr val="9A9A9A"/>
            </a:solidFill>
          </a:uFill>
          <a:latin typeface="+mn-lt"/>
          <a:ea typeface="+mn-ea"/>
          <a:cs typeface="+mn-cs"/>
          <a:sym typeface="Calibri"/>
        </a:defRPr>
      </a:lvl1pPr>
      <a:lvl2pPr algn="r">
        <a:defRPr sz="1200">
          <a:solidFill>
            <a:schemeClr val="tx1"/>
          </a:solidFill>
          <a:uFill>
            <a:solidFill>
              <a:srgbClr val="9A9A9A"/>
            </a:solidFill>
          </a:uFill>
          <a:latin typeface="+mn-lt"/>
          <a:ea typeface="+mn-ea"/>
          <a:cs typeface="+mn-cs"/>
          <a:sym typeface="Calibri"/>
        </a:defRPr>
      </a:lvl2pPr>
      <a:lvl3pPr algn="r">
        <a:defRPr sz="1200">
          <a:solidFill>
            <a:schemeClr val="tx1"/>
          </a:solidFill>
          <a:uFill>
            <a:solidFill>
              <a:srgbClr val="9A9A9A"/>
            </a:solidFill>
          </a:uFill>
          <a:latin typeface="+mn-lt"/>
          <a:ea typeface="+mn-ea"/>
          <a:cs typeface="+mn-cs"/>
          <a:sym typeface="Calibri"/>
        </a:defRPr>
      </a:lvl3pPr>
      <a:lvl4pPr algn="r">
        <a:defRPr sz="1200">
          <a:solidFill>
            <a:schemeClr val="tx1"/>
          </a:solidFill>
          <a:uFill>
            <a:solidFill>
              <a:srgbClr val="9A9A9A"/>
            </a:solidFill>
          </a:uFill>
          <a:latin typeface="+mn-lt"/>
          <a:ea typeface="+mn-ea"/>
          <a:cs typeface="+mn-cs"/>
          <a:sym typeface="Calibri"/>
        </a:defRPr>
      </a:lvl4pPr>
      <a:lvl5pPr algn="r">
        <a:defRPr sz="1200">
          <a:solidFill>
            <a:schemeClr val="tx1"/>
          </a:solidFill>
          <a:uFill>
            <a:solidFill>
              <a:srgbClr val="9A9A9A"/>
            </a:solidFill>
          </a:uFill>
          <a:latin typeface="+mn-lt"/>
          <a:ea typeface="+mn-ea"/>
          <a:cs typeface="+mn-cs"/>
          <a:sym typeface="Calibri"/>
        </a:defRPr>
      </a:lvl5pPr>
      <a:lvl6pPr algn="r">
        <a:defRPr sz="1200">
          <a:solidFill>
            <a:schemeClr val="tx1"/>
          </a:solidFill>
          <a:uFill>
            <a:solidFill>
              <a:srgbClr val="9A9A9A"/>
            </a:solidFill>
          </a:uFill>
          <a:latin typeface="+mn-lt"/>
          <a:ea typeface="+mn-ea"/>
          <a:cs typeface="+mn-cs"/>
          <a:sym typeface="Calibri"/>
        </a:defRPr>
      </a:lvl6pPr>
      <a:lvl7pPr algn="r">
        <a:defRPr sz="1200">
          <a:solidFill>
            <a:schemeClr val="tx1"/>
          </a:solidFill>
          <a:uFill>
            <a:solidFill>
              <a:srgbClr val="9A9A9A"/>
            </a:solidFill>
          </a:uFill>
          <a:latin typeface="+mn-lt"/>
          <a:ea typeface="+mn-ea"/>
          <a:cs typeface="+mn-cs"/>
          <a:sym typeface="Calibri"/>
        </a:defRPr>
      </a:lvl7pPr>
      <a:lvl8pPr algn="r">
        <a:defRPr sz="1200">
          <a:solidFill>
            <a:schemeClr val="tx1"/>
          </a:solidFill>
          <a:uFill>
            <a:solidFill>
              <a:srgbClr val="9A9A9A"/>
            </a:solidFill>
          </a:uFill>
          <a:latin typeface="+mn-lt"/>
          <a:ea typeface="+mn-ea"/>
          <a:cs typeface="+mn-cs"/>
          <a:sym typeface="Calibri"/>
        </a:defRPr>
      </a:lvl8pPr>
      <a:lvl9pPr algn="r">
        <a:defRPr sz="1200">
          <a:solidFill>
            <a:schemeClr val="tx1"/>
          </a:solidFill>
          <a:uFill>
            <a:solidFill>
              <a:srgbClr val="9A9A9A"/>
            </a:solidFill>
          </a:uFill>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1.png"/>
          <p:cNvPicPr/>
          <p:nvPr/>
        </p:nvPicPr>
        <p:blipFill>
          <a:blip r:embed="rId3"/>
          <a:stretch>
            <a:fillRect/>
          </a:stretch>
        </p:blipFill>
        <p:spPr>
          <a:xfrm>
            <a:off x="7848600" y="6311900"/>
            <a:ext cx="1117600" cy="393700"/>
          </a:xfrm>
          <a:prstGeom prst="rect">
            <a:avLst/>
          </a:prstGeom>
          <a:ln w="12700">
            <a:miter lim="400000"/>
          </a:ln>
        </p:spPr>
      </p:pic>
      <p:pic>
        <p:nvPicPr>
          <p:cNvPr id="24" name="image1.png"/>
          <p:cNvPicPr/>
          <p:nvPr/>
        </p:nvPicPr>
        <p:blipFill>
          <a:blip r:embed="rId3"/>
          <a:stretch>
            <a:fillRect/>
          </a:stretch>
        </p:blipFill>
        <p:spPr>
          <a:xfrm>
            <a:off x="7848600" y="6311900"/>
            <a:ext cx="1117600" cy="393700"/>
          </a:xfrm>
          <a:prstGeom prst="rect">
            <a:avLst/>
          </a:prstGeom>
          <a:ln w="12700">
            <a:miter lim="400000"/>
          </a:ln>
        </p:spPr>
      </p:pic>
      <p:sp>
        <p:nvSpPr>
          <p:cNvPr id="25" name="Shape 25"/>
          <p:cNvSpPr>
            <a:spLocks noGrp="1"/>
          </p:cNvSpPr>
          <p:nvPr>
            <p:ph type="title"/>
          </p:nvPr>
        </p:nvSpPr>
        <p:spPr>
          <a:xfrm>
            <a:off x="278025" y="434922"/>
            <a:ext cx="8585031" cy="1470025"/>
          </a:xfrm>
          <a:prstGeom prst="rect">
            <a:avLst/>
          </a:prstGeom>
        </p:spPr>
        <p:txBody>
          <a:bodyPr/>
          <a:lstStyle>
            <a:lvl1pPr algn="ctr"/>
          </a:lstStyle>
          <a:p>
            <a:pPr>
              <a:defRPr sz="1800">
                <a:solidFill>
                  <a:srgbClr val="000000"/>
                </a:solidFill>
                <a:uFillTx/>
              </a:defRPr>
            </a:pPr>
            <a:r>
              <a:rPr lang="en-CA" sz="4800">
                <a:solidFill>
                  <a:srgbClr val="000000"/>
                </a:solidFill>
                <a:uFillTx/>
              </a:rPr>
              <a:t>Office Hours Management System (OHMS)</a:t>
            </a:r>
          </a:p>
        </p:txBody>
      </p:sp>
      <p:sp>
        <p:nvSpPr>
          <p:cNvPr id="26" name="Shape 26"/>
          <p:cNvSpPr>
            <a:spLocks noGrp="1"/>
          </p:cNvSpPr>
          <p:nvPr>
            <p:ph type="body" idx="1"/>
          </p:nvPr>
        </p:nvSpPr>
        <p:spPr>
          <a:xfrm>
            <a:off x="1219200" y="2590800"/>
            <a:ext cx="6400800" cy="1752600"/>
          </a:xfrm>
          <a:prstGeom prst="rect">
            <a:avLst/>
          </a:prstGeom>
        </p:spPr>
        <p:txBody>
          <a:bodyPr lIns="38100" tIns="38100" rIns="38100" bIns="38100" anchor="t"/>
          <a:lstStyle/>
          <a:p>
            <a:pPr lvl="0" algn="l">
              <a:defRPr sz="1800">
                <a:solidFill>
                  <a:srgbClr val="000000"/>
                </a:solidFill>
                <a:uFillTx/>
              </a:defRPr>
            </a:pPr>
            <a:r>
              <a:rPr lang="en-CA"/>
              <a:t>Team Members:</a:t>
            </a:r>
          </a:p>
          <a:p>
            <a:pPr marL="285750" indent="-285750" algn="l">
              <a:buFont typeface="Calibri"/>
              <a:buChar char="-"/>
              <a:defRPr sz="1800">
                <a:solidFill>
                  <a:srgbClr val="000000"/>
                </a:solidFill>
                <a:uFillTx/>
              </a:defRPr>
            </a:pPr>
            <a:r>
              <a:rPr lang="en-CA">
                <a:ea typeface="+mn-lt"/>
                <a:cs typeface="+mn-lt"/>
              </a:rPr>
              <a:t>Claude White</a:t>
            </a:r>
          </a:p>
          <a:p>
            <a:pPr marL="285750" indent="-285750" algn="l">
              <a:buFont typeface="Calibri"/>
              <a:buChar char="-"/>
              <a:defRPr sz="1800">
                <a:solidFill>
                  <a:srgbClr val="000000"/>
                </a:solidFill>
                <a:uFillTx/>
              </a:defRPr>
            </a:pPr>
            <a:r>
              <a:rPr lang="en-CA">
                <a:ea typeface="+mn-lt"/>
                <a:cs typeface="+mn-lt"/>
              </a:rPr>
              <a:t>Jacob </a:t>
            </a:r>
            <a:r>
              <a:rPr lang="en-CA" err="1">
                <a:ea typeface="+mn-lt"/>
                <a:cs typeface="+mn-lt"/>
              </a:rPr>
              <a:t>Morrency</a:t>
            </a:r>
            <a:endParaRPr lang="en-CA" err="1"/>
          </a:p>
          <a:p>
            <a:pPr marL="285750" indent="-285750" algn="l">
              <a:buFont typeface="Calibri"/>
              <a:buChar char="-"/>
              <a:defRPr sz="1800">
                <a:solidFill>
                  <a:srgbClr val="000000"/>
                </a:solidFill>
                <a:uFillTx/>
              </a:defRPr>
            </a:pPr>
            <a:r>
              <a:rPr lang="en-CA">
                <a:ea typeface="+mn-lt"/>
                <a:cs typeface="+mn-lt"/>
              </a:rPr>
              <a:t>Matteo </a:t>
            </a:r>
            <a:r>
              <a:rPr lang="en-CA" err="1">
                <a:ea typeface="+mn-lt"/>
                <a:cs typeface="+mn-lt"/>
              </a:rPr>
              <a:t>Falasconi</a:t>
            </a:r>
            <a:endParaRPr lang="en-CA">
              <a:ea typeface="+mn-lt"/>
              <a:cs typeface="+mn-lt"/>
            </a:endParaRPr>
          </a:p>
          <a:p>
            <a:pPr marL="285750" indent="-285750" algn="l">
              <a:buFont typeface="Calibri"/>
              <a:buChar char="-"/>
              <a:defRPr sz="1800">
                <a:solidFill>
                  <a:srgbClr val="000000"/>
                </a:solidFill>
                <a:uFillTx/>
              </a:defRPr>
            </a:pPr>
            <a:r>
              <a:rPr lang="en-CA">
                <a:ea typeface="+mn-lt"/>
                <a:cs typeface="+mn-lt"/>
              </a:rPr>
              <a:t>Pax Bertin </a:t>
            </a:r>
            <a:r>
              <a:rPr lang="en-CA" err="1">
                <a:ea typeface="+mn-lt"/>
                <a:cs typeface="+mn-lt"/>
              </a:rPr>
              <a:t>Izabayo</a:t>
            </a:r>
          </a:p>
          <a:p>
            <a:pPr marL="457200" indent="-457200" algn="l">
              <a:buFont typeface="Calibri"/>
              <a:buChar char="-"/>
              <a:defRPr sz="1800">
                <a:solidFill>
                  <a:srgbClr val="000000"/>
                </a:solidFill>
                <a:uFillTx/>
              </a:defRPr>
            </a:pPr>
            <a:endParaRPr lang="en-CA"/>
          </a:p>
        </p:txBody>
      </p:sp>
      <p:sp>
        <p:nvSpPr>
          <p:cNvPr id="2" name="Rectangle 1"/>
          <p:cNvSpPr/>
          <p:nvPr/>
        </p:nvSpPr>
        <p:spPr>
          <a:xfrm>
            <a:off x="1219200" y="1905000"/>
            <a:ext cx="6400800" cy="584775"/>
          </a:xfrm>
          <a:prstGeom prst="rect">
            <a:avLst/>
          </a:prstGeom>
        </p:spPr>
        <p:txBody>
          <a:bodyPr wrap="square" lIns="91440" tIns="45720" rIns="91440" bIns="45720" anchor="t">
            <a:spAutoFit/>
          </a:bodyPr>
          <a:lstStyle/>
          <a:p>
            <a:pPr>
              <a:defRPr sz="1800">
                <a:solidFill>
                  <a:srgbClr val="000000"/>
                </a:solidFill>
                <a:uFillTx/>
              </a:defRPr>
            </a:pPr>
            <a:r>
              <a:rPr lang="en-US" sz="3200">
                <a:solidFill>
                  <a:schemeClr val="tx1"/>
                </a:solidFill>
                <a:uFill>
                  <a:solidFill>
                    <a:srgbClr val="9A9A9A"/>
                  </a:solidFill>
                </a:uFill>
              </a:rPr>
              <a:t>Sponsors: Guy Beaulieu</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image1.png"/>
          <p:cNvPicPr/>
          <p:nvPr/>
        </p:nvPicPr>
        <p:blipFill>
          <a:blip r:embed="rId2"/>
          <a:stretch>
            <a:fillRect/>
          </a:stretch>
        </p:blipFill>
        <p:spPr>
          <a:xfrm>
            <a:off x="7848600" y="6311900"/>
            <a:ext cx="1117600" cy="393700"/>
          </a:xfrm>
          <a:prstGeom prst="rect">
            <a:avLst/>
          </a:prstGeom>
          <a:ln w="12700">
            <a:miter lim="400000"/>
          </a:ln>
        </p:spPr>
      </p:pic>
      <p:sp>
        <p:nvSpPr>
          <p:cNvPr id="39" name="Shape 39"/>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elevator pitch</a:t>
            </a:r>
          </a:p>
        </p:txBody>
      </p:sp>
      <p:sp>
        <p:nvSpPr>
          <p:cNvPr id="40" name="Shape 40"/>
          <p:cNvSpPr>
            <a:spLocks noGrp="1"/>
          </p:cNvSpPr>
          <p:nvPr>
            <p:ph type="body" idx="1"/>
          </p:nvPr>
        </p:nvSpPr>
        <p:spPr>
          <a:xfrm>
            <a:off x="457200" y="1600199"/>
            <a:ext cx="8229600" cy="4961816"/>
          </a:xfrm>
          <a:prstGeom prst="rect">
            <a:avLst/>
          </a:prstGeom>
        </p:spPr>
        <p:txBody>
          <a:bodyPr lIns="38100" tIns="38100" rIns="38100" bIns="38100" anchor="t"/>
          <a:lstStyle/>
          <a:p>
            <a:pPr>
              <a:lnSpc>
                <a:spcPct val="90000"/>
              </a:lnSpc>
              <a:defRPr sz="1800">
                <a:uFillTx/>
              </a:defRPr>
            </a:pPr>
            <a:r>
              <a:rPr lang="en-US" sz="1800">
                <a:uFill>
                  <a:solidFill/>
                </a:uFill>
              </a:rPr>
              <a:t>For</a:t>
            </a:r>
            <a:r>
              <a:rPr>
                <a:solidFill>
                  <a:srgbClr val="008F00"/>
                </a:solidFill>
                <a:uFill>
                  <a:solidFill>
                    <a:srgbClr val="008F00"/>
                  </a:solidFill>
                </a:uFill>
              </a:rPr>
              <a:t> </a:t>
            </a:r>
            <a:r>
              <a:rPr lang="en-US">
                <a:solidFill>
                  <a:srgbClr val="008F00"/>
                </a:solidFill>
                <a:uFill>
                  <a:solidFill>
                    <a:srgbClr val="008F00"/>
                  </a:solidFill>
                </a:uFill>
              </a:rPr>
              <a:t>[Guy Beaulieu]</a:t>
            </a:r>
          </a:p>
          <a:p>
            <a:pPr>
              <a:lnSpc>
                <a:spcPct val="90000"/>
              </a:lnSpc>
              <a:defRPr sz="1800">
                <a:uFillTx/>
              </a:defRPr>
            </a:pPr>
            <a:r>
              <a:rPr lang="en-US" sz="1800">
                <a:uFill>
                  <a:solidFill/>
                </a:uFill>
              </a:rPr>
              <a:t>who </a:t>
            </a:r>
            <a:r>
              <a:rPr lang="en-US" sz="1800">
                <a:solidFill>
                  <a:srgbClr val="008F00"/>
                </a:solidFill>
                <a:uFill>
                  <a:solidFill>
                    <a:srgbClr val="008F00"/>
                  </a:solidFill>
                </a:uFill>
              </a:rPr>
              <a:t>[</a:t>
            </a:r>
            <a:r>
              <a:rPr lang="en-US">
                <a:solidFill>
                  <a:srgbClr val="008F00"/>
                </a:solidFill>
                <a:uFill>
                  <a:solidFill>
                    <a:srgbClr val="008F00"/>
                  </a:solidFill>
                </a:uFill>
                <a:ea typeface="+mn-lt"/>
                <a:cs typeface="+mn-lt"/>
              </a:rPr>
              <a:t>needs keep track </a:t>
            </a:r>
            <a:r>
              <a:rPr lang="en-US" sz="1800">
                <a:solidFill>
                  <a:srgbClr val="008F00"/>
                </a:solidFill>
                <a:uFill>
                  <a:solidFill>
                    <a:srgbClr val="008F00"/>
                  </a:solidFill>
                </a:uFill>
                <a:ea typeface="+mn-lt"/>
                <a:cs typeface="+mn-lt"/>
              </a:rPr>
              <a:t>of </a:t>
            </a:r>
            <a:r>
              <a:rPr lang="en-US">
                <a:solidFill>
                  <a:srgbClr val="008F00"/>
                </a:solidFill>
                <a:uFill>
                  <a:solidFill>
                    <a:srgbClr val="008F00"/>
                  </a:solidFill>
                </a:uFill>
                <a:ea typeface="+mn-lt"/>
                <a:cs typeface="+mn-lt"/>
              </a:rPr>
              <a:t>office hours and student appointments</a:t>
            </a:r>
            <a:r>
              <a:rPr lang="en-US" sz="1800">
                <a:solidFill>
                  <a:srgbClr val="008F00"/>
                </a:solidFill>
                <a:uFill>
                  <a:solidFill>
                    <a:srgbClr val="008F00"/>
                  </a:solidFill>
                </a:uFill>
              </a:rPr>
              <a:t>]</a:t>
            </a:r>
            <a:endParaRPr lang="en-US" sz="1800">
              <a:uFill>
                <a:solidFill/>
              </a:uFill>
            </a:endParaRPr>
          </a:p>
          <a:p>
            <a:pPr>
              <a:lnSpc>
                <a:spcPct val="90000"/>
              </a:lnSpc>
              <a:defRPr sz="1800">
                <a:uFillTx/>
              </a:defRPr>
            </a:pPr>
            <a:r>
              <a:rPr lang="en-US" sz="1800">
                <a:uFill>
                  <a:solidFill/>
                </a:uFill>
              </a:rPr>
              <a:t>the </a:t>
            </a:r>
            <a:r>
              <a:rPr lang="en-US" sz="1800">
                <a:solidFill>
                  <a:srgbClr val="008F00"/>
                </a:solidFill>
                <a:uFill>
                  <a:solidFill>
                    <a:srgbClr val="008F00"/>
                  </a:solidFill>
                </a:uFill>
              </a:rPr>
              <a:t>[</a:t>
            </a:r>
            <a:r>
              <a:rPr lang="en-US" sz="1800">
                <a:solidFill>
                  <a:srgbClr val="008F00"/>
                </a:solidFill>
                <a:uFill>
                  <a:solidFill>
                    <a:srgbClr val="008F00"/>
                  </a:solidFill>
                </a:uFill>
                <a:ea typeface="+mn-lt"/>
                <a:cs typeface="+mn-lt"/>
              </a:rPr>
              <a:t>Office Hours Management System</a:t>
            </a:r>
            <a:r>
              <a:rPr lang="en-US" sz="1800">
                <a:solidFill>
                  <a:srgbClr val="008F00"/>
                </a:solidFill>
                <a:uFill>
                  <a:solidFill>
                    <a:srgbClr val="008F00"/>
                  </a:solidFill>
                </a:uFill>
              </a:rPr>
              <a:t>]</a:t>
            </a:r>
            <a:endParaRPr lang="en-US" sz="1800">
              <a:uFill>
                <a:solidFill/>
              </a:uFill>
            </a:endParaRPr>
          </a:p>
          <a:p>
            <a:pPr>
              <a:lnSpc>
                <a:spcPct val="90000"/>
              </a:lnSpc>
              <a:defRPr sz="1800">
                <a:uFillTx/>
              </a:defRPr>
            </a:pPr>
            <a:r>
              <a:rPr lang="en-US" sz="1800">
                <a:uFill>
                  <a:solidFill/>
                </a:uFill>
              </a:rPr>
              <a:t>is a </a:t>
            </a:r>
            <a:r>
              <a:rPr lang="en-US" sz="1800">
                <a:solidFill>
                  <a:srgbClr val="008F00"/>
                </a:solidFill>
                <a:uFill>
                  <a:solidFill>
                    <a:srgbClr val="008F00"/>
                  </a:solidFill>
                </a:uFill>
              </a:rPr>
              <a:t>[</a:t>
            </a:r>
            <a:r>
              <a:rPr lang="en-US" sz="1800">
                <a:solidFill>
                  <a:srgbClr val="008F00"/>
                </a:solidFill>
                <a:uFill>
                  <a:solidFill>
                    <a:srgbClr val="008F00"/>
                  </a:solidFill>
                </a:uFill>
                <a:ea typeface="+mn-lt"/>
                <a:cs typeface="+mn-lt"/>
              </a:rPr>
              <a:t>specialized scheduling tool</a:t>
            </a:r>
            <a:r>
              <a:rPr lang="en-US" sz="1800">
                <a:solidFill>
                  <a:srgbClr val="008F00"/>
                </a:solidFill>
                <a:uFill>
                  <a:solidFill>
                    <a:srgbClr val="008F00"/>
                  </a:solidFill>
                </a:uFill>
              </a:rPr>
              <a:t>]</a:t>
            </a:r>
            <a:endParaRPr lang="en-US" sz="1800">
              <a:uFill>
                <a:solidFill/>
              </a:uFill>
            </a:endParaRPr>
          </a:p>
          <a:p>
            <a:pPr>
              <a:lnSpc>
                <a:spcPct val="90000"/>
              </a:lnSpc>
              <a:defRPr sz="1800">
                <a:uFillTx/>
              </a:defRPr>
            </a:pPr>
            <a:r>
              <a:rPr lang="en-US" sz="1800">
                <a:uFill>
                  <a:solidFill/>
                </a:uFill>
              </a:rPr>
              <a:t>that </a:t>
            </a:r>
            <a:r>
              <a:rPr lang="en-US" sz="1800">
                <a:solidFill>
                  <a:srgbClr val="008F00"/>
                </a:solidFill>
                <a:uFill>
                  <a:solidFill>
                    <a:srgbClr val="008F00"/>
                  </a:solidFill>
                </a:uFill>
              </a:rPr>
              <a:t>[</a:t>
            </a:r>
            <a:r>
              <a:rPr lang="en-US" sz="1800">
                <a:solidFill>
                  <a:srgbClr val="008F00"/>
                </a:solidFill>
                <a:uFill>
                  <a:solidFill>
                    <a:srgbClr val="008F00"/>
                  </a:solidFill>
                </a:uFill>
                <a:ea typeface="+mn-lt"/>
                <a:cs typeface="+mn-lt"/>
              </a:rPr>
              <a:t>helps build your office hours schedule and helps students book teachers office hours]</a:t>
            </a:r>
            <a:r>
              <a:rPr lang="en-US" sz="1800">
                <a:solidFill>
                  <a:srgbClr val="000000"/>
                </a:solidFill>
                <a:uFillTx/>
              </a:rPr>
              <a:t>.</a:t>
            </a:r>
            <a:endParaRPr lang="en-US" sz="1800">
              <a:uFill>
                <a:solidFill/>
              </a:uFill>
            </a:endParaRPr>
          </a:p>
          <a:p>
            <a:pPr>
              <a:lnSpc>
                <a:spcPct val="90000"/>
              </a:lnSpc>
              <a:defRPr sz="1800">
                <a:uFillTx/>
              </a:defRPr>
            </a:pPr>
            <a:r>
              <a:rPr lang="en-US" sz="1800">
                <a:uFill>
                  <a:solidFill/>
                </a:uFill>
              </a:rPr>
              <a:t>Unlike </a:t>
            </a:r>
            <a:r>
              <a:rPr lang="en-US" sz="1800">
                <a:solidFill>
                  <a:srgbClr val="008F00"/>
                </a:solidFill>
                <a:uFill>
                  <a:solidFill>
                    <a:srgbClr val="008F00"/>
                  </a:solidFill>
                </a:uFill>
              </a:rPr>
              <a:t>[</a:t>
            </a:r>
            <a:r>
              <a:rPr lang="en-US" sz="1800">
                <a:solidFill>
                  <a:srgbClr val="008F00"/>
                </a:solidFill>
                <a:uFill>
                  <a:solidFill>
                    <a:srgbClr val="008F00"/>
                  </a:solidFill>
                </a:uFill>
                <a:ea typeface="+mn-lt"/>
                <a:cs typeface="+mn-lt"/>
              </a:rPr>
              <a:t>Outlook Calendar</a:t>
            </a:r>
            <a:r>
              <a:rPr lang="en-US" sz="1800">
                <a:solidFill>
                  <a:srgbClr val="008F00"/>
                </a:solidFill>
                <a:uFill>
                  <a:solidFill>
                    <a:srgbClr val="008F00"/>
                  </a:solidFill>
                </a:uFill>
              </a:rPr>
              <a:t>]</a:t>
            </a:r>
            <a:endParaRPr lang="en-US" sz="1800">
              <a:uFill>
                <a:solidFill/>
              </a:uFill>
            </a:endParaRPr>
          </a:p>
          <a:p>
            <a:pPr>
              <a:lnSpc>
                <a:spcPct val="90000"/>
              </a:lnSpc>
              <a:defRPr sz="1800">
                <a:uFillTx/>
              </a:defRPr>
            </a:pPr>
            <a:r>
              <a:rPr lang="en-US" sz="1800">
                <a:uFill>
                  <a:solidFill/>
                </a:uFill>
              </a:rPr>
              <a:t>our project </a:t>
            </a:r>
            <a:r>
              <a:rPr lang="en-US" sz="1800">
                <a:solidFill>
                  <a:srgbClr val="008F00"/>
                </a:solidFill>
                <a:uFill>
                  <a:solidFill>
                    <a:srgbClr val="008F00"/>
                  </a:solidFill>
                </a:uFill>
              </a:rPr>
              <a:t>[</a:t>
            </a:r>
            <a:r>
              <a:rPr lang="en-US" sz="1800">
                <a:solidFill>
                  <a:srgbClr val="008F00"/>
                </a:solidFill>
                <a:uFill>
                  <a:solidFill>
                    <a:srgbClr val="008F00"/>
                  </a:solidFill>
                </a:uFill>
                <a:ea typeface="+mn-lt"/>
                <a:cs typeface="+mn-lt"/>
              </a:rPr>
              <a:t>application integrates with the school system and automates tedious tasks</a:t>
            </a:r>
            <a:r>
              <a:rPr lang="en-US" sz="1800">
                <a:solidFill>
                  <a:srgbClr val="008F00"/>
                </a:solidFill>
                <a:uFill>
                  <a:solidFill>
                    <a:srgbClr val="008F00"/>
                  </a:solidFill>
                </a:uFill>
              </a:rPr>
              <a:t>]</a:t>
            </a:r>
            <a:r>
              <a:rPr lang="en-US" sz="1800">
                <a:uFill>
                  <a:solidFill/>
                </a:uFill>
              </a:rPr>
              <a:t>.</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image1.png"/>
          <p:cNvPicPr/>
          <p:nvPr/>
        </p:nvPicPr>
        <p:blipFill>
          <a:blip r:embed="rId3"/>
          <a:stretch>
            <a:fillRect/>
          </a:stretch>
        </p:blipFill>
        <p:spPr>
          <a:xfrm>
            <a:off x="7848600" y="6311900"/>
            <a:ext cx="1117600" cy="393700"/>
          </a:xfrm>
          <a:prstGeom prst="rect">
            <a:avLst/>
          </a:prstGeom>
          <a:ln w="12700">
            <a:miter lim="400000"/>
          </a:ln>
        </p:spPr>
      </p:pic>
      <p:sp>
        <p:nvSpPr>
          <p:cNvPr id="65" name="Shape 65"/>
          <p:cNvSpPr>
            <a:spLocks noGrp="1"/>
          </p:cNvSpPr>
          <p:nvPr>
            <p:ph type="title"/>
          </p:nvPr>
        </p:nvSpPr>
        <p:spPr>
          <a:prstGeom prst="rect">
            <a:avLst/>
          </a:prstGeom>
        </p:spPr>
        <p:txBody>
          <a:bodyPr/>
          <a:lstStyle/>
          <a:p>
            <a:pPr lvl="0">
              <a:defRPr sz="1800">
                <a:solidFill>
                  <a:srgbClr val="000000"/>
                </a:solidFill>
                <a:uFillTx/>
              </a:defRPr>
            </a:pPr>
            <a:r>
              <a:rPr lang="en-CA" sz="4400">
                <a:solidFill>
                  <a:srgbClr val="1D4871"/>
                </a:solidFill>
                <a:uFill>
                  <a:solidFill>
                    <a:srgbClr val="1D4871"/>
                  </a:solidFill>
                </a:uFill>
              </a:rPr>
              <a:t>System context</a:t>
            </a:r>
            <a:endParaRPr sz="4400">
              <a:solidFill>
                <a:srgbClr val="1D4871"/>
              </a:solidFill>
              <a:uFill>
                <a:solidFill>
                  <a:srgbClr val="1D4871"/>
                </a:solidFill>
              </a:uFill>
            </a:endParaRPr>
          </a:p>
        </p:txBody>
      </p:sp>
      <p:pic>
        <p:nvPicPr>
          <p:cNvPr id="2" name="Picture 1" descr="A diagram of a company&#10;&#10;Description automatically generated">
            <a:extLst>
              <a:ext uri="{FF2B5EF4-FFF2-40B4-BE49-F238E27FC236}">
                <a16:creationId xmlns:a16="http://schemas.microsoft.com/office/drawing/2014/main" id="{078E053B-C435-9CC0-9889-F16FB3CB9E27}"/>
              </a:ext>
            </a:extLst>
          </p:cNvPr>
          <p:cNvPicPr>
            <a:picLocks noChangeAspect="1"/>
          </p:cNvPicPr>
          <p:nvPr/>
        </p:nvPicPr>
        <p:blipFill>
          <a:blip r:embed="rId4"/>
          <a:stretch>
            <a:fillRect/>
          </a:stretch>
        </p:blipFill>
        <p:spPr>
          <a:xfrm>
            <a:off x="2331966" y="1559257"/>
            <a:ext cx="4480065" cy="5064456"/>
          </a:xfrm>
          <a:prstGeom prst="rect">
            <a:avLst/>
          </a:prstGeom>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image1.png"/>
          <p:cNvPicPr/>
          <p:nvPr/>
        </p:nvPicPr>
        <p:blipFill>
          <a:blip r:embed="rId3"/>
          <a:stretch>
            <a:fillRect/>
          </a:stretch>
        </p:blipFill>
        <p:spPr>
          <a:xfrm>
            <a:off x="7848600" y="6311900"/>
            <a:ext cx="1117600" cy="393700"/>
          </a:xfrm>
          <a:prstGeom prst="rect">
            <a:avLst/>
          </a:prstGeom>
          <a:ln w="12700">
            <a:miter lim="400000"/>
          </a:ln>
        </p:spPr>
      </p:pic>
      <p:pic>
        <p:nvPicPr>
          <p:cNvPr id="3" name="Picture 2" descr="A diagram of a company&amp;#39;s management system&#10;&#10;Description automatically generated">
            <a:extLst>
              <a:ext uri="{FF2B5EF4-FFF2-40B4-BE49-F238E27FC236}">
                <a16:creationId xmlns:a16="http://schemas.microsoft.com/office/drawing/2014/main" id="{91026568-8489-0E17-2F27-F11A635DA564}"/>
              </a:ext>
            </a:extLst>
          </p:cNvPr>
          <p:cNvPicPr>
            <a:picLocks noChangeAspect="1"/>
          </p:cNvPicPr>
          <p:nvPr/>
        </p:nvPicPr>
        <p:blipFill>
          <a:blip r:embed="rId4"/>
          <a:stretch>
            <a:fillRect/>
          </a:stretch>
        </p:blipFill>
        <p:spPr>
          <a:xfrm>
            <a:off x="1046328" y="1295514"/>
            <a:ext cx="6400800" cy="5189921"/>
          </a:xfrm>
          <a:prstGeom prst="rect">
            <a:avLst/>
          </a:prstGeom>
        </p:spPr>
      </p:pic>
      <p:sp>
        <p:nvSpPr>
          <p:cNvPr id="4" name="Title 3">
            <a:extLst>
              <a:ext uri="{FF2B5EF4-FFF2-40B4-BE49-F238E27FC236}">
                <a16:creationId xmlns:a16="http://schemas.microsoft.com/office/drawing/2014/main" id="{9714EE88-4693-B8D0-1A5B-C2BEAACC254B}"/>
              </a:ext>
            </a:extLst>
          </p:cNvPr>
          <p:cNvSpPr>
            <a:spLocks noGrp="1"/>
          </p:cNvSpPr>
          <p:nvPr>
            <p:ph type="title"/>
          </p:nvPr>
        </p:nvSpPr>
        <p:spPr/>
        <p:txBody>
          <a:bodyPr/>
          <a:lstStyle/>
          <a:p>
            <a:r>
              <a:rPr lang="en-US"/>
              <a:t>Use Case Diagram</a:t>
            </a:r>
          </a:p>
        </p:txBody>
      </p:sp>
    </p:spTree>
    <p:extLst>
      <p:ext uri="{BB962C8B-B14F-4D97-AF65-F5344CB8AC3E}">
        <p14:creationId xmlns:p14="http://schemas.microsoft.com/office/powerpoint/2010/main" val="144289165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image1.png"/>
          <p:cNvPicPr/>
          <p:nvPr/>
        </p:nvPicPr>
        <p:blipFill>
          <a:blip r:embed="rId3"/>
          <a:stretch>
            <a:fillRect/>
          </a:stretch>
        </p:blipFill>
        <p:spPr>
          <a:xfrm>
            <a:off x="7848600" y="6311900"/>
            <a:ext cx="1117600" cy="393700"/>
          </a:xfrm>
          <a:prstGeom prst="rect">
            <a:avLst/>
          </a:prstGeom>
          <a:ln w="12700">
            <a:miter lim="400000"/>
          </a:ln>
        </p:spPr>
      </p:pic>
      <p:sp>
        <p:nvSpPr>
          <p:cNvPr id="56" name="Shape 56"/>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57" name="Shape 57"/>
          <p:cNvSpPr/>
          <p:nvPr/>
        </p:nvSpPr>
        <p:spPr>
          <a:xfrm>
            <a:off x="76200" y="5867400"/>
            <a:ext cx="1384300" cy="9144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58" name="Shape 58"/>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NOT list</a:t>
            </a:r>
          </a:p>
        </p:txBody>
      </p:sp>
      <p:graphicFrame>
        <p:nvGraphicFramePr>
          <p:cNvPr id="59" name="Table 59"/>
          <p:cNvGraphicFramePr/>
          <p:nvPr>
            <p:extLst>
              <p:ext uri="{D42A27DB-BD31-4B8C-83A1-F6EECF244321}">
                <p14:modId xmlns:p14="http://schemas.microsoft.com/office/powerpoint/2010/main" val="3701146250"/>
              </p:ext>
            </p:extLst>
          </p:nvPr>
        </p:nvGraphicFramePr>
        <p:xfrm>
          <a:off x="381000" y="1396999"/>
          <a:ext cx="8458200" cy="2967444"/>
        </p:xfrm>
        <a:graphic>
          <a:graphicData uri="http://schemas.openxmlformats.org/drawingml/2006/table">
            <a:tbl>
              <a:tblPr firstRow="1" bandRow="1">
                <a:tableStyleId>{8F44A2F1-9E1F-4B54-A3A2-5F16C0AD49E2}</a:tableStyleId>
              </a:tblPr>
              <a:tblGrid>
                <a:gridCol w="4229100">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tblGrid>
              <a:tr h="400594">
                <a:tc>
                  <a:txBody>
                    <a:bodyPr/>
                    <a:lstStyle/>
                    <a:p>
                      <a:pPr lvl="0" algn="ctr"/>
                      <a:r>
                        <a:rPr lang="en-US" sz="3200">
                          <a:solidFill>
                            <a:srgbClr val="FFFFFF"/>
                          </a:solidFill>
                          <a:uFill>
                            <a:solidFill>
                              <a:srgbClr val="FFFFFF"/>
                            </a:solidFill>
                          </a:uFill>
                        </a:rPr>
                        <a:t>Release 1</a:t>
                      </a:r>
                    </a:p>
                  </a:txBody>
                  <a:tcPr marL="38100" marR="38100" marT="38100" marB="38100" horzOverflow="overflow"/>
                </a:tc>
                <a:tc>
                  <a:txBody>
                    <a:bodyPr/>
                    <a:lstStyle/>
                    <a:p>
                      <a:pPr lvl="0" algn="ctr"/>
                      <a:r>
                        <a:rPr lang="en-US" sz="2800">
                          <a:solidFill>
                            <a:srgbClr val="FFFFFF"/>
                          </a:solidFill>
                          <a:uFill>
                            <a:solidFill>
                              <a:srgbClr val="FFFFFF"/>
                            </a:solidFill>
                          </a:uFill>
                        </a:rPr>
                        <a:t>Release 2</a:t>
                      </a:r>
                    </a:p>
                  </a:txBody>
                  <a:tcPr marL="38100" marR="38100" marT="38100" marB="38100" horzOverflow="overflow"/>
                </a:tc>
                <a:extLst>
                  <a:ext uri="{0D108BD9-81ED-4DB2-BD59-A6C34878D82A}">
                    <a16:rowId xmlns:a16="http://schemas.microsoft.com/office/drawing/2014/main" val="10000"/>
                  </a:ext>
                </a:extLst>
              </a:tr>
              <a:tr h="400594">
                <a:tc>
                  <a:txBody>
                    <a:bodyPr/>
                    <a:lstStyle/>
                    <a:p>
                      <a:pPr lvl="0" algn="l"/>
                      <a:r>
                        <a:rPr lang="en-US"/>
                        <a:t>Teacher Set Office Hours</a:t>
                      </a:r>
                    </a:p>
                  </a:txBody>
                  <a:tcPr marL="38100" marR="38100" marT="38100" marB="38100" horzOverflow="overflow"/>
                </a:tc>
                <a:tc>
                  <a:txBody>
                    <a:bodyPr/>
                    <a:lstStyle/>
                    <a:p>
                      <a:pPr lvl="0" algn="l">
                        <a:buNone/>
                      </a:pPr>
                      <a:r>
                        <a:rPr lang="en-US" sz="1200" b="0" i="0" u="none" strike="noStrike" noProof="0">
                          <a:solidFill>
                            <a:srgbClr val="000000"/>
                          </a:solidFill>
                          <a:latin typeface="Calibri"/>
                        </a:rPr>
                        <a:t>Access App From Anywhere (HIAAA)</a:t>
                      </a:r>
                      <a:endParaRPr lang="en-US"/>
                    </a:p>
                  </a:txBody>
                  <a:tcPr marL="38100" marR="38100" marT="38100" marB="38100" horzOverflow="overflow"/>
                </a:tc>
                <a:extLst>
                  <a:ext uri="{0D108BD9-81ED-4DB2-BD59-A6C34878D82A}">
                    <a16:rowId xmlns:a16="http://schemas.microsoft.com/office/drawing/2014/main" val="10001"/>
                  </a:ext>
                </a:extLst>
              </a:tr>
              <a:tr h="400594">
                <a:tc>
                  <a:txBody>
                    <a:bodyPr/>
                    <a:lstStyle/>
                    <a:p>
                      <a:pPr lvl="0" algn="l"/>
                      <a:r>
                        <a:rPr lang="en-US"/>
                        <a:t>Display Appointments Summary</a:t>
                      </a:r>
                    </a:p>
                  </a:txBody>
                  <a:tcPr marL="38100" marR="38100" marT="38100" marB="38100" horzOverflow="overflow"/>
                </a:tc>
                <a:tc>
                  <a:txBody>
                    <a:bodyPr/>
                    <a:lstStyle/>
                    <a:p>
                      <a:pPr lvl="0" algn="l">
                        <a:buNone/>
                      </a:pPr>
                      <a:r>
                        <a:rPr lang="en-US" sz="1200" b="0" i="0" u="none" strike="noStrike" noProof="0">
                          <a:solidFill>
                            <a:srgbClr val="000000"/>
                          </a:solidFill>
                          <a:latin typeface="Calibri"/>
                        </a:rPr>
                        <a:t>Teacher Status (available, away, </a:t>
                      </a:r>
                      <a:r>
                        <a:rPr lang="en-US" sz="1200" b="0" i="0" u="none" strike="noStrike" noProof="0" err="1">
                          <a:solidFill>
                            <a:srgbClr val="000000"/>
                          </a:solidFill>
                          <a:latin typeface="Calibri"/>
                        </a:rPr>
                        <a:t>etc</a:t>
                      </a:r>
                      <a:r>
                        <a:rPr lang="en-US" sz="1200" b="0" i="0" u="none" strike="noStrike" noProof="0">
                          <a:solidFill>
                            <a:srgbClr val="000000"/>
                          </a:solidFill>
                          <a:latin typeface="Calibri"/>
                        </a:rPr>
                        <a:t>)</a:t>
                      </a:r>
                      <a:endParaRPr lang="en-US"/>
                    </a:p>
                  </a:txBody>
                  <a:tcPr marL="38100" marR="38100" marT="38100" marB="38100" horzOverflow="overflow"/>
                </a:tc>
                <a:extLst>
                  <a:ext uri="{0D108BD9-81ED-4DB2-BD59-A6C34878D82A}">
                    <a16:rowId xmlns:a16="http://schemas.microsoft.com/office/drawing/2014/main" val="10002"/>
                  </a:ext>
                </a:extLst>
              </a:tr>
              <a:tr h="400594">
                <a:tc>
                  <a:txBody>
                    <a:bodyPr/>
                    <a:lstStyle/>
                    <a:p>
                      <a:pPr lvl="0" algn="l"/>
                      <a:r>
                        <a:rPr lang="en-US"/>
                        <a:t>Create, Update, Delete, View Appointments as teacher</a:t>
                      </a:r>
                    </a:p>
                  </a:txBody>
                  <a:tcPr marL="38100" marR="38100" marT="38100" marB="38100" horzOverflow="overflow"/>
                </a:tc>
                <a:tc>
                  <a:txBody>
                    <a:bodyPr/>
                    <a:lstStyle/>
                    <a:p>
                      <a:pPr lvl="0" algn="l"/>
                      <a:r>
                        <a:rPr lang="en-US"/>
                        <a:t>Teacher Codes</a:t>
                      </a:r>
                      <a:endParaRPr/>
                    </a:p>
                  </a:txBody>
                  <a:tcPr marL="38100" marR="38100" marT="38100" marB="38100" horzOverflow="overflow"/>
                </a:tc>
                <a:extLst>
                  <a:ext uri="{0D108BD9-81ED-4DB2-BD59-A6C34878D82A}">
                    <a16:rowId xmlns:a16="http://schemas.microsoft.com/office/drawing/2014/main" val="10003"/>
                  </a:ext>
                </a:extLst>
              </a:tr>
              <a:tr h="400594">
                <a:tc>
                  <a:txBody>
                    <a:bodyPr/>
                    <a:lstStyle/>
                    <a:p>
                      <a:pPr lvl="0" algn="l">
                        <a:buNone/>
                      </a:pPr>
                      <a:r>
                        <a:rPr lang="en-US" sz="1200" b="0" i="0" u="none" strike="noStrike" noProof="0">
                          <a:solidFill>
                            <a:srgbClr val="000000"/>
                          </a:solidFill>
                          <a:latin typeface="Calibri"/>
                        </a:rPr>
                        <a:t>Create, Update, Delete, View Student Appointment</a:t>
                      </a:r>
                      <a:endParaRPr lang="en-US"/>
                    </a:p>
                  </a:txBody>
                  <a:tcPr marL="38100" marR="38100" marT="38100" marB="38100" horzOverflow="overflow"/>
                </a:tc>
                <a:tc>
                  <a:txBody>
                    <a:bodyPr/>
                    <a:lstStyle/>
                    <a:p>
                      <a:pPr lvl="0" algn="l"/>
                      <a:r>
                        <a:rPr lang="en-US"/>
                        <a:t>File Upload</a:t>
                      </a:r>
                      <a:endParaRPr/>
                    </a:p>
                  </a:txBody>
                  <a:tcPr marL="38100" marR="38100" marT="38100" marB="38100" horzOverflow="overflow"/>
                </a:tc>
                <a:extLst>
                  <a:ext uri="{0D108BD9-81ED-4DB2-BD59-A6C34878D82A}">
                    <a16:rowId xmlns:a16="http://schemas.microsoft.com/office/drawing/2014/main" val="10004"/>
                  </a:ext>
                </a:extLst>
              </a:tr>
              <a:tr h="400594">
                <a:tc>
                  <a:txBody>
                    <a:bodyPr/>
                    <a:lstStyle/>
                    <a:p>
                      <a:pPr lvl="0" algn="l"/>
                      <a:endParaRPr lang="en-US"/>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5"/>
                  </a:ext>
                </a:extLst>
              </a:tr>
              <a:tr h="400594">
                <a:tc>
                  <a:txBody>
                    <a:bodyPr/>
                    <a:lstStyle/>
                    <a:p>
                      <a:pPr lvl="0" algn="l"/>
                      <a:endParaRPr lang="en-US"/>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6"/>
                  </a:ext>
                </a:extLst>
              </a:tr>
            </a:tbl>
          </a:graphicData>
        </a:graphic>
      </p:graphicFrame>
      <p:graphicFrame>
        <p:nvGraphicFramePr>
          <p:cNvPr id="60" name="Table 60"/>
          <p:cNvGraphicFramePr/>
          <p:nvPr>
            <p:extLst>
              <p:ext uri="{D42A27DB-BD31-4B8C-83A1-F6EECF244321}">
                <p14:modId xmlns:p14="http://schemas.microsoft.com/office/powerpoint/2010/main" val="2956117501"/>
              </p:ext>
            </p:extLst>
          </p:nvPr>
        </p:nvGraphicFramePr>
        <p:xfrm>
          <a:off x="381363" y="4362043"/>
          <a:ext cx="8458114" cy="2213864"/>
        </p:xfrm>
        <a:graphic>
          <a:graphicData uri="http://schemas.openxmlformats.org/drawingml/2006/table">
            <a:tbl>
              <a:tblPr firstRow="1" bandRow="1">
                <a:tableStyleId>{8F44A2F1-9E1F-4B54-A3A2-5F16C0AD49E2}</a:tableStyleId>
              </a:tblPr>
              <a:tblGrid>
                <a:gridCol w="8458114">
                  <a:extLst>
                    <a:ext uri="{9D8B030D-6E8A-4147-A177-3AD203B41FA5}">
                      <a16:colId xmlns:a16="http://schemas.microsoft.com/office/drawing/2014/main" val="20000"/>
                    </a:ext>
                  </a:extLst>
                </a:gridCol>
              </a:tblGrid>
              <a:tr h="412496">
                <a:tc>
                  <a:txBody>
                    <a:bodyPr/>
                    <a:lstStyle/>
                    <a:p>
                      <a:pPr lvl="0" algn="ctr">
                        <a:tabLst>
                          <a:tab pos="914400" algn="l"/>
                        </a:tabLst>
                        <a:defRPr sz="1800" b="0">
                          <a:solidFill>
                            <a:srgbClr val="000000"/>
                          </a:solidFill>
                          <a:uFillTx/>
                        </a:defRPr>
                      </a:pPr>
                      <a:r>
                        <a:rPr lang="en-US" sz="3200">
                          <a:solidFill>
                            <a:srgbClr val="FFFFFF"/>
                          </a:solidFill>
                          <a:uFill>
                            <a:solidFill>
                              <a:srgbClr val="FFFFFF"/>
                            </a:solidFill>
                          </a:uFill>
                        </a:rPr>
                        <a:t>Out</a:t>
                      </a:r>
                    </a:p>
                  </a:txBody>
                  <a:tcPr marL="38100" marR="38100" marT="38100" marB="38100" horzOverflow="overflow"/>
                </a:tc>
                <a:extLst>
                  <a:ext uri="{0D108BD9-81ED-4DB2-BD59-A6C34878D82A}">
                    <a16:rowId xmlns:a16="http://schemas.microsoft.com/office/drawing/2014/main" val="10000"/>
                  </a:ext>
                </a:extLst>
              </a:tr>
              <a:tr h="412496">
                <a:tc>
                  <a:txBody>
                    <a:bodyPr/>
                    <a:lstStyle/>
                    <a:p>
                      <a:pPr lvl="0" algn="l"/>
                      <a:r>
                        <a:rPr lang="en-US"/>
                        <a:t>No priority system</a:t>
                      </a:r>
                    </a:p>
                  </a:txBody>
                  <a:tcPr marL="38100" marR="38100" marT="38100" marB="38100" horzOverflow="overflow"/>
                </a:tc>
                <a:extLst>
                  <a:ext uri="{0D108BD9-81ED-4DB2-BD59-A6C34878D82A}">
                    <a16:rowId xmlns:a16="http://schemas.microsoft.com/office/drawing/2014/main" val="10001"/>
                  </a:ext>
                </a:extLst>
              </a:tr>
              <a:tr h="412496">
                <a:tc>
                  <a:txBody>
                    <a:bodyPr/>
                    <a:lstStyle/>
                    <a:p>
                      <a:pPr lvl="0" algn="l"/>
                      <a:r>
                        <a:rPr lang="en-US"/>
                        <a:t>No appointment history</a:t>
                      </a:r>
                    </a:p>
                  </a:txBody>
                  <a:tcPr marL="38100" marR="38100" marT="38100" marB="38100" horzOverflow="overflow"/>
                </a:tc>
                <a:extLst>
                  <a:ext uri="{0D108BD9-81ED-4DB2-BD59-A6C34878D82A}">
                    <a16:rowId xmlns:a16="http://schemas.microsoft.com/office/drawing/2014/main" val="10002"/>
                  </a:ext>
                </a:extLst>
              </a:tr>
              <a:tr h="412496">
                <a:tc>
                  <a:txBody>
                    <a:bodyPr/>
                    <a:lstStyle/>
                    <a:p>
                      <a:pPr lvl="0" algn="l"/>
                      <a:endParaRPr lang="en-US"/>
                    </a:p>
                  </a:txBody>
                  <a:tcPr marL="38100" marR="38100" marT="38100" marB="38100" horzOverflow="overflow"/>
                </a:tc>
                <a:extLst>
                  <a:ext uri="{0D108BD9-81ED-4DB2-BD59-A6C34878D82A}">
                    <a16:rowId xmlns:a16="http://schemas.microsoft.com/office/drawing/2014/main" val="10003"/>
                  </a:ext>
                </a:extLst>
              </a:tr>
              <a:tr h="412496">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image1.png"/>
          <p:cNvPicPr/>
          <p:nvPr/>
        </p:nvPicPr>
        <p:blipFill>
          <a:blip r:embed="rId3"/>
          <a:stretch>
            <a:fillRect/>
          </a:stretch>
        </p:blipFill>
        <p:spPr>
          <a:xfrm>
            <a:off x="7848600" y="6311900"/>
            <a:ext cx="1117600" cy="393700"/>
          </a:xfrm>
          <a:prstGeom prst="rect">
            <a:avLst/>
          </a:prstGeom>
          <a:ln w="12700">
            <a:miter lim="400000"/>
          </a:ln>
        </p:spPr>
      </p:pic>
      <p:sp>
        <p:nvSpPr>
          <p:cNvPr id="80" name="Shape 80"/>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81" name="Shape 81"/>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Technical solution</a:t>
            </a:r>
          </a:p>
        </p:txBody>
      </p:sp>
      <p:grpSp>
        <p:nvGrpSpPr>
          <p:cNvPr id="84" name="Group 84"/>
          <p:cNvGrpSpPr/>
          <p:nvPr/>
        </p:nvGrpSpPr>
        <p:grpSpPr>
          <a:xfrm>
            <a:off x="1907875" y="2381263"/>
            <a:ext cx="1754917" cy="914843"/>
            <a:chOff x="0" y="0"/>
            <a:chExt cx="1754916" cy="914841"/>
          </a:xfrm>
        </p:grpSpPr>
        <p:sp>
          <p:nvSpPr>
            <p:cNvPr id="82" name="Shape 82"/>
            <p:cNvSpPr/>
            <p:nvPr/>
          </p:nvSpPr>
          <p:spPr>
            <a:xfrm>
              <a:off x="0" y="-1"/>
              <a:ext cx="1754917" cy="914843"/>
            </a:xfrm>
            <a:custGeom>
              <a:avLst/>
              <a:gdLst/>
              <a:ahLst/>
              <a:cxnLst>
                <a:cxn ang="0">
                  <a:pos x="wd2" y="hd2"/>
                </a:cxn>
                <a:cxn ang="5400000">
                  <a:pos x="wd2" y="hd2"/>
                </a:cxn>
                <a:cxn ang="10800000">
                  <a:pos x="wd2" y="hd2"/>
                </a:cxn>
                <a:cxn ang="16200000">
                  <a:pos x="wd2" y="hd2"/>
                </a:cxn>
              </a:cxnLst>
              <a:rect l="0" t="0" r="r" b="b"/>
              <a:pathLst>
                <a:path w="20879" h="20683" extrusionOk="0">
                  <a:moveTo>
                    <a:pt x="1901" y="6809"/>
                  </a:moveTo>
                  <a:cubicBezTo>
                    <a:pt x="1658" y="4403"/>
                    <a:pt x="2907" y="2186"/>
                    <a:pt x="4691" y="1859"/>
                  </a:cubicBezTo>
                  <a:cubicBezTo>
                    <a:pt x="5414" y="1726"/>
                    <a:pt x="6149" y="1925"/>
                    <a:pt x="6778" y="2422"/>
                  </a:cubicBezTo>
                  <a:cubicBezTo>
                    <a:pt x="7445" y="726"/>
                    <a:pt x="9003" y="81"/>
                    <a:pt x="10259" y="982"/>
                  </a:cubicBezTo>
                  <a:cubicBezTo>
                    <a:pt x="10478" y="1140"/>
                    <a:pt x="10680" y="1340"/>
                    <a:pt x="10857" y="1575"/>
                  </a:cubicBezTo>
                  <a:cubicBezTo>
                    <a:pt x="11377" y="169"/>
                    <a:pt x="12642" y="-402"/>
                    <a:pt x="13683" y="299"/>
                  </a:cubicBezTo>
                  <a:cubicBezTo>
                    <a:pt x="13971" y="493"/>
                    <a:pt x="14222" y="774"/>
                    <a:pt x="14418" y="1120"/>
                  </a:cubicBezTo>
                  <a:cubicBezTo>
                    <a:pt x="15255" y="-210"/>
                    <a:pt x="16734" y="-374"/>
                    <a:pt x="17722" y="753"/>
                  </a:cubicBezTo>
                  <a:cubicBezTo>
                    <a:pt x="18137" y="1227"/>
                    <a:pt x="18417" y="1880"/>
                    <a:pt x="18513" y="2601"/>
                  </a:cubicBezTo>
                  <a:cubicBezTo>
                    <a:pt x="19885" y="3106"/>
                    <a:pt x="20694" y="5019"/>
                    <a:pt x="20321" y="6874"/>
                  </a:cubicBezTo>
                  <a:cubicBezTo>
                    <a:pt x="20289" y="7030"/>
                    <a:pt x="20250" y="7182"/>
                    <a:pt x="20203" y="7331"/>
                  </a:cubicBezTo>
                  <a:cubicBezTo>
                    <a:pt x="21303" y="9264"/>
                    <a:pt x="21034" y="12033"/>
                    <a:pt x="19601" y="13518"/>
                  </a:cubicBezTo>
                  <a:cubicBezTo>
                    <a:pt x="19155" y="13980"/>
                    <a:pt x="18629" y="14279"/>
                    <a:pt x="18072" y="14386"/>
                  </a:cubicBezTo>
                  <a:cubicBezTo>
                    <a:pt x="18060" y="16465"/>
                    <a:pt x="16800" y="18137"/>
                    <a:pt x="15258" y="18121"/>
                  </a:cubicBezTo>
                  <a:cubicBezTo>
                    <a:pt x="14743" y="18115"/>
                    <a:pt x="14238" y="17917"/>
                    <a:pt x="13801" y="17550"/>
                  </a:cubicBezTo>
                  <a:cubicBezTo>
                    <a:pt x="13280" y="19881"/>
                    <a:pt x="11460" y="21198"/>
                    <a:pt x="9738" y="20492"/>
                  </a:cubicBezTo>
                  <a:cubicBezTo>
                    <a:pt x="9016" y="20196"/>
                    <a:pt x="8392" y="19571"/>
                    <a:pt x="7973" y="18722"/>
                  </a:cubicBezTo>
                  <a:cubicBezTo>
                    <a:pt x="6209" y="20158"/>
                    <a:pt x="3920" y="19386"/>
                    <a:pt x="2859" y="16998"/>
                  </a:cubicBezTo>
                  <a:cubicBezTo>
                    <a:pt x="2846" y="16968"/>
                    <a:pt x="2833" y="16937"/>
                    <a:pt x="2820" y="16907"/>
                  </a:cubicBezTo>
                  <a:cubicBezTo>
                    <a:pt x="1666" y="17089"/>
                    <a:pt x="620" y="15978"/>
                    <a:pt x="485" y="14424"/>
                  </a:cubicBezTo>
                  <a:cubicBezTo>
                    <a:pt x="412" y="13596"/>
                    <a:pt x="615" y="12767"/>
                    <a:pt x="1038" y="12159"/>
                  </a:cubicBezTo>
                  <a:cubicBezTo>
                    <a:pt x="39" y="11365"/>
                    <a:pt x="-297" y="9622"/>
                    <a:pt x="288" y="8266"/>
                  </a:cubicBezTo>
                  <a:cubicBezTo>
                    <a:pt x="626" y="7484"/>
                    <a:pt x="1218" y="6967"/>
                    <a:pt x="1883" y="6874"/>
                  </a:cubicBezTo>
                  <a:close/>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sp>
          <p:nvSpPr>
            <p:cNvPr id="83" name="Shape 83"/>
            <p:cNvSpPr/>
            <p:nvPr/>
          </p:nvSpPr>
          <p:spPr>
            <a:xfrm>
              <a:off x="89103" y="46586"/>
              <a:ext cx="1608097" cy="777867"/>
            </a:xfrm>
            <a:custGeom>
              <a:avLst/>
              <a:gdLst/>
              <a:ahLst/>
              <a:cxnLst>
                <a:cxn ang="0">
                  <a:pos x="wd2" y="hd2"/>
                </a:cxn>
                <a:cxn ang="5400000">
                  <a:pos x="wd2" y="hd2"/>
                </a:cxn>
                <a:cxn ang="10800000">
                  <a:pos x="wd2" y="hd2"/>
                </a:cxn>
                <a:cxn ang="16200000">
                  <a:pos x="wd2" y="hd2"/>
                </a:cxn>
              </a:cxnLst>
              <a:rect l="0" t="0" r="r" b="b"/>
              <a:pathLst>
                <a:path w="21600" h="21600" extrusionOk="0">
                  <a:moveTo>
                    <a:pt x="1380" y="14010"/>
                  </a:moveTo>
                  <a:cubicBezTo>
                    <a:pt x="899" y="14066"/>
                    <a:pt x="417" y="13902"/>
                    <a:pt x="0" y="13542"/>
                  </a:cubicBezTo>
                  <a:moveTo>
                    <a:pt x="2598" y="19137"/>
                  </a:moveTo>
                  <a:cubicBezTo>
                    <a:pt x="2405" y="19250"/>
                    <a:pt x="2202" y="19325"/>
                    <a:pt x="1994" y="19361"/>
                  </a:cubicBezTo>
                  <a:moveTo>
                    <a:pt x="7802" y="21600"/>
                  </a:moveTo>
                  <a:cubicBezTo>
                    <a:pt x="7657" y="21279"/>
                    <a:pt x="7535" y="20936"/>
                    <a:pt x="7438" y="20577"/>
                  </a:cubicBezTo>
                  <a:moveTo>
                    <a:pt x="14532" y="19050"/>
                  </a:moveTo>
                  <a:cubicBezTo>
                    <a:pt x="14510" y="19430"/>
                    <a:pt x="14462" y="19806"/>
                    <a:pt x="14386" y="20172"/>
                  </a:cubicBezTo>
                  <a:moveTo>
                    <a:pt x="17421" y="12116"/>
                  </a:moveTo>
                  <a:cubicBezTo>
                    <a:pt x="18513" y="12896"/>
                    <a:pt x="19202" y="14528"/>
                    <a:pt x="19193" y="16310"/>
                  </a:cubicBezTo>
                  <a:moveTo>
                    <a:pt x="21600" y="7649"/>
                  </a:moveTo>
                  <a:cubicBezTo>
                    <a:pt x="21423" y="8256"/>
                    <a:pt x="21153" y="8794"/>
                    <a:pt x="20811" y="9222"/>
                  </a:cubicBezTo>
                  <a:moveTo>
                    <a:pt x="19707" y="1814"/>
                  </a:moveTo>
                  <a:cubicBezTo>
                    <a:pt x="19737" y="2059"/>
                    <a:pt x="19751" y="2307"/>
                    <a:pt x="19749" y="2556"/>
                  </a:cubicBezTo>
                  <a:moveTo>
                    <a:pt x="14668" y="947"/>
                  </a:moveTo>
                  <a:cubicBezTo>
                    <a:pt x="14771" y="605"/>
                    <a:pt x="14907" y="286"/>
                    <a:pt x="15073" y="0"/>
                  </a:cubicBezTo>
                  <a:moveTo>
                    <a:pt x="10888" y="1399"/>
                  </a:moveTo>
                  <a:cubicBezTo>
                    <a:pt x="10930" y="1115"/>
                    <a:pt x="10996" y="841"/>
                    <a:pt x="11084" y="582"/>
                  </a:cubicBezTo>
                  <a:moveTo>
                    <a:pt x="6452" y="1676"/>
                  </a:moveTo>
                  <a:cubicBezTo>
                    <a:pt x="6709" y="1897"/>
                    <a:pt x="6947" y="2163"/>
                    <a:pt x="7160" y="2469"/>
                  </a:cubicBezTo>
                  <a:moveTo>
                    <a:pt x="1072" y="7905"/>
                  </a:moveTo>
                  <a:cubicBezTo>
                    <a:pt x="1016" y="7632"/>
                    <a:pt x="974" y="7353"/>
                    <a:pt x="948" y="7071"/>
                  </a:cubicBezTo>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grpSp>
      <p:sp>
        <p:nvSpPr>
          <p:cNvPr id="85" name="Shape 85"/>
          <p:cNvSpPr/>
          <p:nvPr/>
        </p:nvSpPr>
        <p:spPr>
          <a:xfrm>
            <a:off x="4284618" y="1766654"/>
            <a:ext cx="2187664" cy="3003223"/>
          </a:xfrm>
          <a:prstGeom prst="rect">
            <a:avLst/>
          </a:prstGeom>
          <a:solidFill>
            <a:srgbClr val="6095C9"/>
          </a:solidFill>
          <a:ln w="25400">
            <a:solidFill>
              <a:srgbClr val="49729C"/>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grpSp>
        <p:nvGrpSpPr>
          <p:cNvPr id="90" name="Group 90"/>
          <p:cNvGrpSpPr/>
          <p:nvPr/>
        </p:nvGrpSpPr>
        <p:grpSpPr>
          <a:xfrm>
            <a:off x="7637078" y="2312872"/>
            <a:ext cx="1163651" cy="1550863"/>
            <a:chOff x="0" y="0"/>
            <a:chExt cx="914400" cy="1216153"/>
          </a:xfrm>
        </p:grpSpPr>
        <p:sp>
          <p:nvSpPr>
            <p:cNvPr id="87" name="Shape 87"/>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0" y="2030"/>
                  </a:move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close/>
                </a:path>
              </a:pathLst>
            </a:custGeom>
            <a:solidFill>
              <a:srgbClr val="6095C9"/>
            </a:solidFill>
            <a:ln w="25400" cap="flat">
              <a:noFill/>
              <a:round/>
            </a:ln>
            <a:effectLst/>
          </p:spPr>
          <p:txBody>
            <a:bodyPr wrap="square" lIns="38100" tIns="38100" rIns="38100" bIns="38100" numCol="1" anchor="t">
              <a:noAutofit/>
            </a:bodyPr>
            <a:lstStyle/>
            <a:p>
              <a:pPr lvl="0"/>
              <a:endParaRPr/>
            </a:p>
          </p:txBody>
        </p:sp>
        <p:sp>
          <p:nvSpPr>
            <p:cNvPr id="88" name="Shape 88"/>
            <p:cNvSpPr/>
            <p:nvPr/>
          </p:nvSpPr>
          <p:spPr>
            <a:xfrm>
              <a:off x="0" y="0"/>
              <a:ext cx="914400" cy="228601"/>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solidFill>
              <a:srgbClr val="FFFFFF">
                <a:alpha val="40000"/>
              </a:srgbClr>
            </a:solidFill>
            <a:ln w="25400" cap="flat">
              <a:noFill/>
              <a:round/>
            </a:ln>
            <a:effectLst/>
          </p:spPr>
          <p:txBody>
            <a:bodyPr wrap="square" lIns="38100" tIns="38100" rIns="38100" bIns="38100" numCol="1" anchor="t">
              <a:noAutofit/>
            </a:bodyPr>
            <a:lstStyle/>
            <a:p>
              <a:pPr lvl="0"/>
              <a:endParaRPr/>
            </a:p>
          </p:txBody>
        </p:sp>
        <p:sp>
          <p:nvSpPr>
            <p:cNvPr id="89" name="Shape 89"/>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21600" y="2030"/>
                  </a:moveTo>
                  <a:cubicBezTo>
                    <a:pt x="21600" y="3151"/>
                    <a:pt x="16765" y="4060"/>
                    <a:pt x="10800" y="4060"/>
                  </a:cubicBezTo>
                  <a:cubicBezTo>
                    <a:pt x="4835" y="4060"/>
                    <a:pt x="0" y="3151"/>
                    <a:pt x="0" y="2030"/>
                  </a:cubicBez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lnTo>
                    <a:pt x="0" y="2030"/>
                  </a:lnTo>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grpSp>
      <p:pic>
        <p:nvPicPr>
          <p:cNvPr id="97" name="image8.png"/>
          <p:cNvPicPr/>
          <p:nvPr/>
        </p:nvPicPr>
        <p:blipFill>
          <a:blip r:embed="rId4"/>
          <a:stretch>
            <a:fillRect/>
          </a:stretch>
        </p:blipFill>
        <p:spPr>
          <a:xfrm>
            <a:off x="624840" y="2367425"/>
            <a:ext cx="800100" cy="927101"/>
          </a:xfrm>
          <a:prstGeom prst="rect">
            <a:avLst/>
          </a:prstGeom>
          <a:ln w="12700">
            <a:miter lim="400000"/>
          </a:ln>
        </p:spPr>
      </p:pic>
      <p:sp>
        <p:nvSpPr>
          <p:cNvPr id="100" name="Shape 100"/>
          <p:cNvSpPr/>
          <p:nvPr/>
        </p:nvSpPr>
        <p:spPr>
          <a:xfrm>
            <a:off x="626185" y="4495800"/>
            <a:ext cx="3792151" cy="1677382"/>
          </a:xfrm>
          <a:prstGeom prst="rect">
            <a:avLst/>
          </a:prstGeom>
          <a:ln w="12700">
            <a:round/>
          </a:ln>
          <a:extLst>
            <a:ext uri="{C572A759-6A51-4108-AA02-DFA0A04FC94B}">
              <ma14:wrappingTextBoxFlag xmlns:ma14="http://schemas.microsoft.com/office/mac/drawingml/2011/main" xmlns="" val="1"/>
            </a:ext>
          </a:extLst>
        </p:spPr>
        <p:txBody>
          <a:bodyPr wrap="square" lIns="38100" tIns="38100" rIns="38100" bIns="38100" anchor="t">
            <a:spAutoFit/>
          </a:bodyPr>
          <a:lstStyle/>
          <a:p>
            <a:pPr lvl="0">
              <a:defRPr>
                <a:uFillTx/>
              </a:defRPr>
            </a:pPr>
            <a:r>
              <a:rPr sz="2400" b="1">
                <a:uFill>
                  <a:solidFill/>
                </a:uFill>
              </a:rPr>
              <a:t>Technologies:</a:t>
            </a:r>
            <a:endParaRPr>
              <a:uFill>
                <a:solidFill/>
              </a:uFill>
            </a:endParaRPr>
          </a:p>
          <a:p>
            <a:pPr>
              <a:buSzPct val="100000"/>
              <a:buFont typeface="Calibri"/>
              <a:buChar char="-"/>
              <a:defRPr>
                <a:uFillTx/>
              </a:defRPr>
            </a:pPr>
            <a:r>
              <a:rPr sz="1600">
                <a:uFill>
                  <a:solidFill/>
                </a:uFill>
              </a:rPr>
              <a:t> </a:t>
            </a:r>
            <a:r>
              <a:rPr lang="en-US" sz="1600"/>
              <a:t>C#, JavaScript, SQL, Entity Framework Core</a:t>
            </a:r>
            <a:endParaRPr sz="1600">
              <a:uFill>
                <a:solidFill/>
              </a:uFill>
            </a:endParaRPr>
          </a:p>
          <a:p>
            <a:pPr>
              <a:buSzPct val="100000"/>
              <a:buFont typeface="Calibri"/>
              <a:buChar char="-"/>
              <a:defRPr>
                <a:uFillTx/>
              </a:defRPr>
            </a:pPr>
            <a:r>
              <a:rPr sz="1600">
                <a:uFill>
                  <a:solidFill/>
                </a:uFill>
              </a:rPr>
              <a:t> </a:t>
            </a:r>
            <a:r>
              <a:rPr lang="en-US" sz="1600"/>
              <a:t>Toast Notifications, HIAAA, .NET</a:t>
            </a:r>
          </a:p>
          <a:p>
            <a:pPr>
              <a:buSzPct val="100000"/>
              <a:buFont typeface="Calibri"/>
              <a:buChar char="-"/>
              <a:defRPr>
                <a:uFillTx/>
              </a:defRPr>
            </a:pPr>
            <a:r>
              <a:rPr sz="1600">
                <a:uFill>
                  <a:solidFill/>
                </a:uFill>
              </a:rPr>
              <a:t> </a:t>
            </a:r>
            <a:r>
              <a:rPr lang="en-US" sz="1600"/>
              <a:t>Visual Studio 2022, Rider, MSSQL, Azure DevOps, Git, SQL Server (RDBMS), Chrome, Safari, Edge, Firefox.</a:t>
            </a:r>
          </a:p>
        </p:txBody>
      </p:sp>
      <p:sp>
        <p:nvSpPr>
          <p:cNvPr id="3" name="TextBox 2">
            <a:extLst>
              <a:ext uri="{FF2B5EF4-FFF2-40B4-BE49-F238E27FC236}">
                <a16:creationId xmlns:a16="http://schemas.microsoft.com/office/drawing/2014/main" id="{8D11AC90-7D26-15A7-9BBB-D22689D0905E}"/>
              </a:ext>
            </a:extLst>
          </p:cNvPr>
          <p:cNvSpPr txBox="1"/>
          <p:nvPr/>
        </p:nvSpPr>
        <p:spPr>
          <a:xfrm>
            <a:off x="2157984" y="2512877"/>
            <a:ext cx="1254033"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rtl="0" latinLnBrk="1" hangingPunct="0"/>
            <a:r>
              <a:rPr lang="en-US">
                <a:solidFill>
                  <a:srgbClr val="000000"/>
                </a:solidFill>
                <a:uFill>
                  <a:solidFill>
                    <a:srgbClr val="000000"/>
                  </a:solidFill>
                </a:uFill>
              </a:rPr>
              <a:t>OHMS Web Interface</a:t>
            </a:r>
            <a:endParaRPr lang="en-US"/>
          </a:p>
        </p:txBody>
      </p:sp>
      <p:sp>
        <p:nvSpPr>
          <p:cNvPr id="5" name="TextBox 4">
            <a:extLst>
              <a:ext uri="{FF2B5EF4-FFF2-40B4-BE49-F238E27FC236}">
                <a16:creationId xmlns:a16="http://schemas.microsoft.com/office/drawing/2014/main" id="{922C04D8-0509-BFC6-3E87-6B3492A3C1C9}"/>
              </a:ext>
            </a:extLst>
          </p:cNvPr>
          <p:cNvSpPr txBox="1"/>
          <p:nvPr/>
        </p:nvSpPr>
        <p:spPr>
          <a:xfrm>
            <a:off x="2157984" y="1624602"/>
            <a:ext cx="1254033"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a:solidFill>
                  <a:srgbClr val="000000"/>
                </a:solidFill>
                <a:uFill>
                  <a:solidFill>
                    <a:srgbClr val="000000"/>
                  </a:solidFill>
                </a:uFill>
              </a:rPr>
              <a:t>User Interface</a:t>
            </a:r>
            <a:endParaRPr lang="en-US"/>
          </a:p>
        </p:txBody>
      </p:sp>
      <p:sp>
        <p:nvSpPr>
          <p:cNvPr id="6" name="TextBox 5">
            <a:extLst>
              <a:ext uri="{FF2B5EF4-FFF2-40B4-BE49-F238E27FC236}">
                <a16:creationId xmlns:a16="http://schemas.microsoft.com/office/drawing/2014/main" id="{30A78E90-A55E-38C2-2E50-4BC91E1BB8ED}"/>
              </a:ext>
            </a:extLst>
          </p:cNvPr>
          <p:cNvSpPr txBox="1"/>
          <p:nvPr/>
        </p:nvSpPr>
        <p:spPr>
          <a:xfrm>
            <a:off x="459812" y="1763101"/>
            <a:ext cx="1254033" cy="37959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a:solidFill>
                  <a:srgbClr val="000000"/>
                </a:solidFill>
                <a:uFill>
                  <a:solidFill>
                    <a:srgbClr val="000000"/>
                  </a:solidFill>
                </a:uFill>
              </a:rPr>
              <a:t>User </a:t>
            </a:r>
            <a:endParaRPr lang="en-US">
              <a:uFill>
                <a:solidFill>
                  <a:srgbClr val="000000"/>
                </a:solidFill>
              </a:uFill>
            </a:endParaRPr>
          </a:p>
        </p:txBody>
      </p:sp>
      <p:sp>
        <p:nvSpPr>
          <p:cNvPr id="7" name="TextBox 6">
            <a:extLst>
              <a:ext uri="{FF2B5EF4-FFF2-40B4-BE49-F238E27FC236}">
                <a16:creationId xmlns:a16="http://schemas.microsoft.com/office/drawing/2014/main" id="{6F4A029E-7E88-0F77-D6FA-86AE09CF1298}"/>
              </a:ext>
            </a:extLst>
          </p:cNvPr>
          <p:cNvSpPr txBox="1"/>
          <p:nvPr/>
        </p:nvSpPr>
        <p:spPr>
          <a:xfrm>
            <a:off x="4430921" y="1234055"/>
            <a:ext cx="1894112" cy="37959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a:solidFill>
                  <a:srgbClr val="000000"/>
                </a:solidFill>
                <a:uFill>
                  <a:solidFill>
                    <a:srgbClr val="000000"/>
                  </a:solidFill>
                </a:uFill>
              </a:rPr>
              <a:t>Technologies Stack</a:t>
            </a:r>
            <a:endParaRPr lang="en-US" err="1">
              <a:uFill>
                <a:solidFill>
                  <a:srgbClr val="000000"/>
                </a:solidFill>
              </a:uFill>
            </a:endParaRPr>
          </a:p>
        </p:txBody>
      </p:sp>
      <p:sp>
        <p:nvSpPr>
          <p:cNvPr id="8" name="TextBox 7">
            <a:extLst>
              <a:ext uri="{FF2B5EF4-FFF2-40B4-BE49-F238E27FC236}">
                <a16:creationId xmlns:a16="http://schemas.microsoft.com/office/drawing/2014/main" id="{33903C3F-674A-536E-FB6C-E38FEAB79130}"/>
              </a:ext>
            </a:extLst>
          </p:cNvPr>
          <p:cNvSpPr txBox="1"/>
          <p:nvPr/>
        </p:nvSpPr>
        <p:spPr>
          <a:xfrm>
            <a:off x="4457047" y="1960652"/>
            <a:ext cx="1828798" cy="271869"/>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1050">
                <a:uFill>
                  <a:solidFill>
                    <a:srgbClr val="000000"/>
                  </a:solidFill>
                </a:uFill>
              </a:rPr>
              <a:t>Entity Framework Core</a:t>
            </a:r>
            <a:endParaRPr lang="en-US" sz="1050">
              <a:solidFill>
                <a:srgbClr val="000000"/>
              </a:solidFill>
              <a:uFill>
                <a:solidFill>
                  <a:srgbClr val="000000"/>
                </a:solidFill>
              </a:uFill>
              <a:latin typeface="Calibri"/>
              <a:cs typeface="Calibri"/>
            </a:endParaRPr>
          </a:p>
        </p:txBody>
      </p:sp>
      <p:sp>
        <p:nvSpPr>
          <p:cNvPr id="9" name="TextBox 8">
            <a:extLst>
              <a:ext uri="{FF2B5EF4-FFF2-40B4-BE49-F238E27FC236}">
                <a16:creationId xmlns:a16="http://schemas.microsoft.com/office/drawing/2014/main" id="{BA26548C-8096-A704-F7F2-352302366740}"/>
              </a:ext>
            </a:extLst>
          </p:cNvPr>
          <p:cNvSpPr txBox="1"/>
          <p:nvPr/>
        </p:nvSpPr>
        <p:spPr>
          <a:xfrm>
            <a:off x="4457047" y="2231962"/>
            <a:ext cx="1828798" cy="441146"/>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1050">
                <a:uFill>
                  <a:solidFill>
                    <a:srgbClr val="000000"/>
                  </a:solidFill>
                </a:uFill>
              </a:rPr>
              <a:t>Business Logic (System Rules &amp; Workflow)</a:t>
            </a:r>
            <a:endParaRPr lang="en-US" sz="1400"/>
          </a:p>
        </p:txBody>
      </p:sp>
      <p:sp>
        <p:nvSpPr>
          <p:cNvPr id="10" name="TextBox 9">
            <a:extLst>
              <a:ext uri="{FF2B5EF4-FFF2-40B4-BE49-F238E27FC236}">
                <a16:creationId xmlns:a16="http://schemas.microsoft.com/office/drawing/2014/main" id="{432F7613-381F-D76A-2799-829C07D47FA7}"/>
              </a:ext>
            </a:extLst>
          </p:cNvPr>
          <p:cNvSpPr txBox="1"/>
          <p:nvPr/>
        </p:nvSpPr>
        <p:spPr>
          <a:xfrm>
            <a:off x="4457046" y="2674426"/>
            <a:ext cx="1828798" cy="264175"/>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1050">
                <a:uFill>
                  <a:solidFill>
                    <a:srgbClr val="000000"/>
                  </a:solidFill>
                </a:uFill>
              </a:rPr>
              <a:t>Model View Controller Pattern </a:t>
            </a:r>
          </a:p>
        </p:txBody>
      </p:sp>
      <p:sp>
        <p:nvSpPr>
          <p:cNvPr id="11" name="TextBox 10">
            <a:extLst>
              <a:ext uri="{FF2B5EF4-FFF2-40B4-BE49-F238E27FC236}">
                <a16:creationId xmlns:a16="http://schemas.microsoft.com/office/drawing/2014/main" id="{0FCB287C-0D32-651C-84B4-E47A3413B909}"/>
              </a:ext>
            </a:extLst>
          </p:cNvPr>
          <p:cNvSpPr txBox="1"/>
          <p:nvPr/>
        </p:nvSpPr>
        <p:spPr>
          <a:xfrm>
            <a:off x="4457045" y="2937472"/>
            <a:ext cx="1828798" cy="271869"/>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1050">
                <a:uFill>
                  <a:solidFill>
                    <a:srgbClr val="000000"/>
                  </a:solidFill>
                </a:uFill>
              </a:rPr>
              <a:t>Object Relational Mapper</a:t>
            </a:r>
          </a:p>
        </p:txBody>
      </p:sp>
      <p:sp>
        <p:nvSpPr>
          <p:cNvPr id="12" name="TextBox 11">
            <a:extLst>
              <a:ext uri="{FF2B5EF4-FFF2-40B4-BE49-F238E27FC236}">
                <a16:creationId xmlns:a16="http://schemas.microsoft.com/office/drawing/2014/main" id="{B1282940-C204-F8D1-3F5C-E31B81441CF8}"/>
              </a:ext>
            </a:extLst>
          </p:cNvPr>
          <p:cNvSpPr txBox="1"/>
          <p:nvPr/>
        </p:nvSpPr>
        <p:spPr>
          <a:xfrm>
            <a:off x="4457045" y="3204388"/>
            <a:ext cx="1828798" cy="271869"/>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1050">
                <a:uFill>
                  <a:solidFill>
                    <a:srgbClr val="000000"/>
                  </a:solidFill>
                </a:uFill>
              </a:rPr>
              <a:t>C#</a:t>
            </a:r>
            <a:endParaRPr lang="en-US" sz="1400"/>
          </a:p>
        </p:txBody>
      </p:sp>
      <p:sp>
        <p:nvSpPr>
          <p:cNvPr id="13" name="TextBox 12">
            <a:extLst>
              <a:ext uri="{FF2B5EF4-FFF2-40B4-BE49-F238E27FC236}">
                <a16:creationId xmlns:a16="http://schemas.microsoft.com/office/drawing/2014/main" id="{DC21357D-BA7E-483C-5ACE-9F060C118644}"/>
              </a:ext>
            </a:extLst>
          </p:cNvPr>
          <p:cNvSpPr txBox="1"/>
          <p:nvPr/>
        </p:nvSpPr>
        <p:spPr>
          <a:xfrm>
            <a:off x="4457044" y="3477313"/>
            <a:ext cx="1828798" cy="271869"/>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1050">
                <a:uFill>
                  <a:solidFill>
                    <a:srgbClr val="000000"/>
                  </a:solidFill>
                </a:uFill>
              </a:rPr>
              <a:t>JavaScript</a:t>
            </a:r>
          </a:p>
        </p:txBody>
      </p:sp>
      <p:sp>
        <p:nvSpPr>
          <p:cNvPr id="14" name="TextBox 13">
            <a:extLst>
              <a:ext uri="{FF2B5EF4-FFF2-40B4-BE49-F238E27FC236}">
                <a16:creationId xmlns:a16="http://schemas.microsoft.com/office/drawing/2014/main" id="{09B49126-7DF7-579A-61CA-F064455A21AB}"/>
              </a:ext>
            </a:extLst>
          </p:cNvPr>
          <p:cNvSpPr txBox="1"/>
          <p:nvPr/>
        </p:nvSpPr>
        <p:spPr>
          <a:xfrm>
            <a:off x="4457045" y="3745334"/>
            <a:ext cx="1828798" cy="271869"/>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1050">
                <a:uFill>
                  <a:solidFill>
                    <a:srgbClr val="000000"/>
                  </a:solidFill>
                </a:uFill>
              </a:rPr>
              <a:t>SQL</a:t>
            </a:r>
          </a:p>
        </p:txBody>
      </p:sp>
      <p:sp>
        <p:nvSpPr>
          <p:cNvPr id="15" name="TextBox 14">
            <a:extLst>
              <a:ext uri="{FF2B5EF4-FFF2-40B4-BE49-F238E27FC236}">
                <a16:creationId xmlns:a16="http://schemas.microsoft.com/office/drawing/2014/main" id="{16BD9881-084F-306C-8712-D7A7187840EC}"/>
              </a:ext>
            </a:extLst>
          </p:cNvPr>
          <p:cNvSpPr txBox="1"/>
          <p:nvPr/>
        </p:nvSpPr>
        <p:spPr>
          <a:xfrm>
            <a:off x="4457045" y="4021554"/>
            <a:ext cx="1828798" cy="271869"/>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1050">
                <a:uFill>
                  <a:solidFill>
                    <a:srgbClr val="000000"/>
                  </a:solidFill>
                </a:uFill>
              </a:rPr>
              <a:t>Toast Notifications</a:t>
            </a:r>
            <a:endParaRPr lang="en-US" sz="1400"/>
          </a:p>
        </p:txBody>
      </p:sp>
      <p:sp>
        <p:nvSpPr>
          <p:cNvPr id="16" name="TextBox 15">
            <a:extLst>
              <a:ext uri="{FF2B5EF4-FFF2-40B4-BE49-F238E27FC236}">
                <a16:creationId xmlns:a16="http://schemas.microsoft.com/office/drawing/2014/main" id="{BF075E2A-54C8-415C-5AAE-CB2C8D066993}"/>
              </a:ext>
            </a:extLst>
          </p:cNvPr>
          <p:cNvSpPr txBox="1"/>
          <p:nvPr/>
        </p:nvSpPr>
        <p:spPr>
          <a:xfrm>
            <a:off x="4457045" y="4292869"/>
            <a:ext cx="1828798" cy="271869"/>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1050">
                <a:uFill>
                  <a:solidFill>
                    <a:srgbClr val="000000"/>
                  </a:solidFill>
                </a:uFill>
              </a:rPr>
              <a:t>HIAAA(Team #1 Dev Project)</a:t>
            </a:r>
            <a:endParaRPr lang="en-US"/>
          </a:p>
        </p:txBody>
      </p:sp>
      <p:sp>
        <p:nvSpPr>
          <p:cNvPr id="19" name="TextBox 18">
            <a:extLst>
              <a:ext uri="{FF2B5EF4-FFF2-40B4-BE49-F238E27FC236}">
                <a16:creationId xmlns:a16="http://schemas.microsoft.com/office/drawing/2014/main" id="{E650739D-81DE-5DE8-1DD5-A1AC17D74434}"/>
              </a:ext>
            </a:extLst>
          </p:cNvPr>
          <p:cNvSpPr txBox="1"/>
          <p:nvPr/>
        </p:nvSpPr>
        <p:spPr>
          <a:xfrm>
            <a:off x="7796901" y="3014502"/>
            <a:ext cx="810425" cy="264175"/>
          </a:xfrm>
          <a:prstGeom prst="rect">
            <a:avLst/>
          </a:prstGeom>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sz="1050">
                <a:uFill>
                  <a:solidFill>
                    <a:srgbClr val="000000"/>
                  </a:solidFill>
                </a:uFill>
              </a:rPr>
              <a:t>SQL Server</a:t>
            </a:r>
          </a:p>
        </p:txBody>
      </p:sp>
      <p:sp>
        <p:nvSpPr>
          <p:cNvPr id="23" name="TextBox 22">
            <a:extLst>
              <a:ext uri="{FF2B5EF4-FFF2-40B4-BE49-F238E27FC236}">
                <a16:creationId xmlns:a16="http://schemas.microsoft.com/office/drawing/2014/main" id="{0311C0FB-E116-418C-7225-DBD0A32645E4}"/>
              </a:ext>
            </a:extLst>
          </p:cNvPr>
          <p:cNvSpPr txBox="1"/>
          <p:nvPr/>
        </p:nvSpPr>
        <p:spPr>
          <a:xfrm>
            <a:off x="7274519" y="1860355"/>
            <a:ext cx="1894112" cy="37959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algn="ctr"/>
            <a:r>
              <a:rPr lang="en-US">
                <a:uFill>
                  <a:solidFill>
                    <a:srgbClr val="000000"/>
                  </a:solidFill>
                </a:uFill>
              </a:rPr>
              <a:t>Database</a:t>
            </a:r>
          </a:p>
        </p:txBody>
      </p:sp>
      <p:cxnSp>
        <p:nvCxnSpPr>
          <p:cNvPr id="2" name="Straight Arrow Connector 1">
            <a:extLst>
              <a:ext uri="{FF2B5EF4-FFF2-40B4-BE49-F238E27FC236}">
                <a16:creationId xmlns:a16="http://schemas.microsoft.com/office/drawing/2014/main" id="{D99BA8E3-3401-4275-E763-531A680D8C41}"/>
              </a:ext>
            </a:extLst>
          </p:cNvPr>
          <p:cNvCxnSpPr/>
          <p:nvPr/>
        </p:nvCxnSpPr>
        <p:spPr>
          <a:xfrm flipV="1">
            <a:off x="1353734" y="2793956"/>
            <a:ext cx="467758" cy="7307"/>
          </a:xfrm>
          <a:prstGeom prst="straightConnector1">
            <a:avLst/>
          </a:prstGeom>
          <a:noFill/>
          <a:ln w="38100" cap="flat">
            <a:solidFill>
              <a:srgbClr val="000000"/>
            </a:solidFill>
            <a:prstDash val="solid"/>
            <a:miter lim="400000"/>
            <a:headEnd type="triangle"/>
            <a:tailEnd type="triangle"/>
          </a:ln>
          <a:effectLst/>
        </p:spPr>
        <p:style>
          <a:lnRef idx="0">
            <a:scrgbClr r="0" g="0" b="0"/>
          </a:lnRef>
          <a:fillRef idx="0">
            <a:scrgbClr r="0" g="0" b="0"/>
          </a:fillRef>
          <a:effectRef idx="0">
            <a:scrgbClr r="0" g="0" b="0"/>
          </a:effectRef>
          <a:fontRef idx="none"/>
        </p:style>
      </p:cxnSp>
      <p:cxnSp>
        <p:nvCxnSpPr>
          <p:cNvPr id="4" name="Straight Arrow Connector 3">
            <a:extLst>
              <a:ext uri="{FF2B5EF4-FFF2-40B4-BE49-F238E27FC236}">
                <a16:creationId xmlns:a16="http://schemas.microsoft.com/office/drawing/2014/main" id="{E8C27776-D438-36FF-88BB-7E8E5C516FF5}"/>
              </a:ext>
            </a:extLst>
          </p:cNvPr>
          <p:cNvCxnSpPr>
            <a:cxnSpLocks/>
          </p:cNvCxnSpPr>
          <p:nvPr/>
        </p:nvCxnSpPr>
        <p:spPr>
          <a:xfrm flipV="1">
            <a:off x="3745304" y="2810197"/>
            <a:ext cx="467758" cy="7307"/>
          </a:xfrm>
          <a:prstGeom prst="straightConnector1">
            <a:avLst/>
          </a:prstGeom>
          <a:noFill/>
          <a:ln w="38100" cap="flat">
            <a:solidFill>
              <a:srgbClr val="000000"/>
            </a:solidFill>
            <a:prstDash val="solid"/>
            <a:miter lim="400000"/>
            <a:headEnd type="triangle"/>
            <a:tailEnd type="triangle"/>
          </a:ln>
          <a:effectLst/>
        </p:spPr>
        <p:style>
          <a:lnRef idx="0">
            <a:scrgbClr r="0" g="0" b="0"/>
          </a:lnRef>
          <a:fillRef idx="0">
            <a:scrgbClr r="0" g="0" b="0"/>
          </a:fillRef>
          <a:effectRef idx="0">
            <a:scrgbClr r="0" g="0" b="0"/>
          </a:effectRef>
          <a:fontRef idx="none"/>
        </p:style>
      </p:cxnSp>
      <p:cxnSp>
        <p:nvCxnSpPr>
          <p:cNvPr id="17" name="Straight Arrow Connector 16">
            <a:extLst>
              <a:ext uri="{FF2B5EF4-FFF2-40B4-BE49-F238E27FC236}">
                <a16:creationId xmlns:a16="http://schemas.microsoft.com/office/drawing/2014/main" id="{C3C078F8-001C-FD86-EBEA-1EA88E1EF43E}"/>
              </a:ext>
            </a:extLst>
          </p:cNvPr>
          <p:cNvCxnSpPr>
            <a:cxnSpLocks/>
          </p:cNvCxnSpPr>
          <p:nvPr/>
        </p:nvCxnSpPr>
        <p:spPr>
          <a:xfrm>
            <a:off x="6481714" y="2811636"/>
            <a:ext cx="1161209" cy="3997"/>
          </a:xfrm>
          <a:prstGeom prst="straightConnector1">
            <a:avLst/>
          </a:prstGeom>
          <a:noFill/>
          <a:ln w="38100" cap="flat">
            <a:solidFill>
              <a:srgbClr val="000000"/>
            </a:solidFill>
            <a:prstDash val="solid"/>
            <a:miter lim="400000"/>
            <a:headEnd type="triangle"/>
            <a:tailEnd type="triangle"/>
          </a:ln>
          <a:effectLst/>
        </p:spPr>
        <p:style>
          <a:lnRef idx="0">
            <a:scrgbClr r="0" g="0" b="0"/>
          </a:lnRef>
          <a:fillRef idx="0">
            <a:scrgbClr r="0" g="0" b="0"/>
          </a:fillRef>
          <a:effectRef idx="0">
            <a:scrgbClr r="0" g="0" b="0"/>
          </a:effectRef>
          <a:fontRef idx="none"/>
        </p:style>
      </p:cxnSp>
      <p:sp>
        <p:nvSpPr>
          <p:cNvPr id="21" name="TextBox 20">
            <a:extLst>
              <a:ext uri="{FF2B5EF4-FFF2-40B4-BE49-F238E27FC236}">
                <a16:creationId xmlns:a16="http://schemas.microsoft.com/office/drawing/2014/main" id="{B99CEF34-AEF4-1A46-63A0-467D44066876}"/>
              </a:ext>
            </a:extLst>
          </p:cNvPr>
          <p:cNvSpPr txBox="1"/>
          <p:nvPr/>
        </p:nvSpPr>
        <p:spPr>
          <a:xfrm>
            <a:off x="5116712" y="4527929"/>
            <a:ext cx="449262" cy="28725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pPr marL="0" marR="0" indent="0" algn="l" defTabSz="914400" rtl="0" fontAlgn="auto" latinLnBrk="1" hangingPunct="0">
              <a:lnSpc>
                <a:spcPct val="100000"/>
              </a:lnSpc>
              <a:spcBef>
                <a:spcPts val="0"/>
              </a:spcBef>
              <a:spcAft>
                <a:spcPts val="0"/>
              </a:spcAft>
              <a:buClr>
                <a:srgbClr val="000000"/>
              </a:buClr>
              <a:buSzTx/>
              <a:buFontTx/>
              <a:buNone/>
              <a:tabLst/>
            </a:pPr>
            <a:r>
              <a:rPr lang="en-US" sz="1200">
                <a:solidFill>
                  <a:srgbClr val="000000"/>
                </a:solidFill>
                <a:uFill>
                  <a:solidFill>
                    <a:srgbClr val="000000"/>
                  </a:solidFill>
                </a:uFill>
              </a:rPr>
              <a:t>.NET</a:t>
            </a:r>
            <a:endParaRPr lang="en-US" sz="1200" b="0" i="0" u="none" strike="noStrike" cap="none" spc="0" normalizeH="0" baseline="0">
              <a:ln>
                <a:noFill/>
              </a:ln>
              <a:solidFill>
                <a:srgbClr val="000000"/>
              </a:solidFill>
              <a:effectLst/>
              <a:uFill>
                <a:solidFill>
                  <a:srgbClr val="000000"/>
                </a:solidFill>
              </a:uFill>
              <a:latin typeface="+mn-lt"/>
              <a:ea typeface="+mn-ea"/>
              <a:cs typeface="+mn-cs"/>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image1.png"/>
          <p:cNvPicPr/>
          <p:nvPr/>
        </p:nvPicPr>
        <p:blipFill>
          <a:blip r:embed="rId3"/>
          <a:stretch>
            <a:fillRect/>
          </a:stretch>
        </p:blipFill>
        <p:spPr>
          <a:xfrm>
            <a:off x="7848600" y="6311900"/>
            <a:ext cx="1117600" cy="393700"/>
          </a:xfrm>
          <a:prstGeom prst="rect">
            <a:avLst/>
          </a:prstGeom>
          <a:ln w="12700">
            <a:miter lim="400000"/>
          </a:ln>
        </p:spPr>
      </p:pic>
      <p:sp>
        <p:nvSpPr>
          <p:cNvPr id="105" name="Shape 105"/>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What keeps us up at night</a:t>
            </a:r>
          </a:p>
        </p:txBody>
      </p:sp>
      <p:sp>
        <p:nvSpPr>
          <p:cNvPr id="106" name="Shape 106"/>
          <p:cNvSpPr>
            <a:spLocks noGrp="1"/>
          </p:cNvSpPr>
          <p:nvPr>
            <p:ph type="body" idx="1"/>
          </p:nvPr>
        </p:nvSpPr>
        <p:spPr>
          <a:prstGeom prst="rect">
            <a:avLst/>
          </a:prstGeom>
        </p:spPr>
        <p:txBody>
          <a:bodyPr lIns="38100" tIns="38100" rIns="38100" bIns="38100" anchor="t"/>
          <a:lstStyle/>
          <a:p>
            <a:pPr>
              <a:defRPr sz="1800">
                <a:uFillTx/>
              </a:defRPr>
            </a:pPr>
            <a:r>
              <a:rPr lang="en-US"/>
              <a:t>How to automate sending a daily email with the current day's schedule</a:t>
            </a:r>
            <a:endParaRPr/>
          </a:p>
          <a:p>
            <a:pPr>
              <a:defRPr sz="1800">
                <a:uFillTx/>
              </a:defRPr>
            </a:pPr>
            <a:r>
              <a:rPr lang="en-US">
                <a:uFillTx/>
              </a:rPr>
              <a:t>How to access student's and teacher's schedules</a:t>
            </a:r>
          </a:p>
          <a:p>
            <a:pPr>
              <a:defRPr sz="1800">
                <a:uFillTx/>
              </a:defRPr>
            </a:pPr>
            <a:r>
              <a:rPr lang="en-US"/>
              <a:t>How to make the application accessible from outside the school's network</a:t>
            </a:r>
          </a:p>
          <a:p>
            <a:pPr>
              <a:defRPr sz="1800">
                <a:uFillTx/>
              </a:defRPr>
            </a:pPr>
            <a:r>
              <a:rPr lang="en-US"/>
              <a:t>How to include the creation of Teams Online invitations link to our system (will we be allowed to use Microsoft Graph or not. If we aren’t what external online meeting services can be used and will be allowed like Zoom could be an alternative).</a:t>
            </a:r>
          </a:p>
          <a:p>
            <a:pPr>
              <a:defRPr sz="1800">
                <a:uFillTx/>
              </a:defRPr>
            </a:pPr>
            <a:endParaRPr/>
          </a:p>
        </p:txBody>
      </p:sp>
      <p:sp>
        <p:nvSpPr>
          <p:cNvPr id="107" name="Shape 107"/>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pic>
        <p:nvPicPr>
          <p:cNvPr id="108" name="droppedImage.pdf"/>
          <p:cNvPicPr/>
          <p:nvPr/>
        </p:nvPicPr>
        <p:blipFill>
          <a:blip r:embed="rId4"/>
          <a:stretch>
            <a:fillRect/>
          </a:stretch>
        </p:blipFill>
        <p:spPr>
          <a:xfrm flipH="1">
            <a:off x="7226300" y="4330700"/>
            <a:ext cx="1206500" cy="2146300"/>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 name="Screen shot 2011-02-08 at 5.04.54 AM.png"/>
          <p:cNvPicPr/>
          <p:nvPr/>
        </p:nvPicPr>
        <p:blipFill>
          <a:blip r:embed="rId3"/>
          <a:stretch>
            <a:fillRect/>
          </a:stretch>
        </p:blipFill>
        <p:spPr>
          <a:xfrm flipH="1">
            <a:off x="431800" y="2741950"/>
            <a:ext cx="1066800" cy="839450"/>
          </a:xfrm>
          <a:prstGeom prst="rect">
            <a:avLst/>
          </a:prstGeom>
          <a:ln w="12700">
            <a:miter lim="400000"/>
          </a:ln>
        </p:spPr>
      </p:pic>
      <p:pic>
        <p:nvPicPr>
          <p:cNvPr id="119" name="image1.png"/>
          <p:cNvPicPr/>
          <p:nvPr/>
        </p:nvPicPr>
        <p:blipFill>
          <a:blip r:embed="rId4"/>
          <a:stretch>
            <a:fillRect/>
          </a:stretch>
        </p:blipFill>
        <p:spPr>
          <a:xfrm>
            <a:off x="7848600" y="6311900"/>
            <a:ext cx="1117600" cy="393700"/>
          </a:xfrm>
          <a:prstGeom prst="rect">
            <a:avLst/>
          </a:prstGeom>
          <a:ln w="12700">
            <a:miter lim="400000"/>
          </a:ln>
        </p:spPr>
      </p:pic>
      <p:sp>
        <p:nvSpPr>
          <p:cNvPr id="120" name="Shape 120"/>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How big is this thing?</a:t>
            </a:r>
          </a:p>
        </p:txBody>
      </p:sp>
      <p:sp>
        <p:nvSpPr>
          <p:cNvPr id="121" name="Shape 121"/>
          <p:cNvSpPr/>
          <p:nvPr/>
        </p:nvSpPr>
        <p:spPr>
          <a:xfrm>
            <a:off x="1661310" y="2819400"/>
            <a:ext cx="6172201" cy="685800"/>
          </a:xfrm>
          <a:prstGeom prst="chevron">
            <a:avLst>
              <a:gd name="adj" fmla="val 50000"/>
            </a:avLst>
          </a:prstGeom>
          <a:solidFill>
            <a:srgbClr val="6095C9"/>
          </a:solidFill>
          <a:ln w="25400">
            <a:solidFill>
              <a:srgbClr val="49729C"/>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2" name="Shape 122"/>
          <p:cNvSpPr/>
          <p:nvPr/>
        </p:nvSpPr>
        <p:spPr>
          <a:xfrm rot="5400000">
            <a:off x="3490110" y="25146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3" name="Shape 123"/>
          <p:cNvSpPr/>
          <p:nvPr/>
        </p:nvSpPr>
        <p:spPr>
          <a:xfrm rot="5400000">
            <a:off x="5471310" y="25146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4" name="Shape 124"/>
          <p:cNvSpPr/>
          <p:nvPr/>
        </p:nvSpPr>
        <p:spPr>
          <a:xfrm rot="5400000">
            <a:off x="7452510" y="25146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5" name="Shape 125"/>
          <p:cNvSpPr/>
          <p:nvPr/>
        </p:nvSpPr>
        <p:spPr>
          <a:xfrm>
            <a:off x="7071510" y="1371599"/>
            <a:ext cx="1928913" cy="673101"/>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4000" b="1"/>
            </a:lvl1pPr>
          </a:lstStyle>
          <a:p>
            <a:pPr lvl="0">
              <a:defRPr sz="1800" b="0">
                <a:uFillTx/>
              </a:defRPr>
            </a:pPr>
            <a:r>
              <a:rPr sz="4000" b="1">
                <a:uFill>
                  <a:solidFill/>
                </a:uFill>
              </a:rPr>
              <a:t>Ship it!</a:t>
            </a:r>
          </a:p>
        </p:txBody>
      </p:sp>
      <p:sp>
        <p:nvSpPr>
          <p:cNvPr id="126" name="Shape 126"/>
          <p:cNvSpPr/>
          <p:nvPr/>
        </p:nvSpPr>
        <p:spPr>
          <a:xfrm>
            <a:off x="1661310" y="2209800"/>
            <a:ext cx="2294038"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2800"/>
            </a:lvl1pPr>
          </a:lstStyle>
          <a:p>
            <a:pPr lvl="0">
              <a:defRPr sz="1800">
                <a:uFillTx/>
              </a:defRPr>
            </a:pPr>
            <a:r>
              <a:rPr sz="2800">
                <a:uFill>
                  <a:solidFill/>
                </a:uFill>
              </a:rPr>
              <a:t>Construction</a:t>
            </a:r>
          </a:p>
        </p:txBody>
      </p:sp>
      <p:sp>
        <p:nvSpPr>
          <p:cNvPr id="127" name="Shape 127"/>
          <p:cNvSpPr/>
          <p:nvPr/>
        </p:nvSpPr>
        <p:spPr>
          <a:xfrm>
            <a:off x="4480066" y="2209800"/>
            <a:ext cx="768326"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2800"/>
            </a:lvl1pPr>
          </a:lstStyle>
          <a:p>
            <a:pPr lvl="0">
              <a:defRPr sz="1800">
                <a:uFillTx/>
              </a:defRPr>
            </a:pPr>
            <a:r>
              <a:rPr sz="2800">
                <a:uFill>
                  <a:solidFill/>
                </a:uFill>
              </a:rPr>
              <a:t>UAT</a:t>
            </a:r>
          </a:p>
        </p:txBody>
      </p:sp>
      <p:sp>
        <p:nvSpPr>
          <p:cNvPr id="128" name="Shape 128"/>
          <p:cNvSpPr/>
          <p:nvPr/>
        </p:nvSpPr>
        <p:spPr>
          <a:xfrm>
            <a:off x="6233310" y="2219979"/>
            <a:ext cx="1504530" cy="495301"/>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2800"/>
            </a:lvl1pPr>
          </a:lstStyle>
          <a:p>
            <a:pPr lvl="0">
              <a:defRPr sz="1800">
                <a:uFillTx/>
              </a:defRPr>
            </a:pPr>
            <a:r>
              <a:rPr sz="2800">
                <a:uFill>
                  <a:solidFill/>
                </a:uFill>
              </a:rPr>
              <a:t>Training</a:t>
            </a:r>
          </a:p>
        </p:txBody>
      </p:sp>
      <p:sp>
        <p:nvSpPr>
          <p:cNvPr id="129" name="Shape 129"/>
          <p:cNvSpPr/>
          <p:nvPr/>
        </p:nvSpPr>
        <p:spPr>
          <a:xfrm>
            <a:off x="2042310" y="2895600"/>
            <a:ext cx="1827834"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~3months</a:t>
            </a:r>
          </a:p>
        </p:txBody>
      </p:sp>
      <p:sp>
        <p:nvSpPr>
          <p:cNvPr id="130" name="Shape 130"/>
          <p:cNvSpPr/>
          <p:nvPr/>
        </p:nvSpPr>
        <p:spPr>
          <a:xfrm>
            <a:off x="4368010" y="2895600"/>
            <a:ext cx="1017836"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sp>
        <p:nvSpPr>
          <p:cNvPr id="131" name="Shape 131"/>
          <p:cNvSpPr/>
          <p:nvPr/>
        </p:nvSpPr>
        <p:spPr>
          <a:xfrm>
            <a:off x="6349210" y="2895600"/>
            <a:ext cx="1017837"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sp>
        <p:nvSpPr>
          <p:cNvPr id="132" name="Shape 132"/>
          <p:cNvSpPr/>
          <p:nvPr/>
        </p:nvSpPr>
        <p:spPr>
          <a:xfrm>
            <a:off x="1668049" y="3886200"/>
            <a:ext cx="7470578" cy="5588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3200" b="1"/>
            </a:lvl1pPr>
          </a:lstStyle>
          <a:p>
            <a:pPr lvl="0">
              <a:defRPr sz="1800" b="0">
                <a:uFillTx/>
              </a:defRPr>
            </a:pPr>
            <a:r>
              <a:rPr sz="3200" b="1">
                <a:uFill>
                  <a:solidFill/>
                </a:uFill>
              </a:rPr>
              <a:t>This is a guess. Not a commitment.</a:t>
            </a:r>
          </a:p>
        </p:txBody>
      </p:sp>
      <p:sp>
        <p:nvSpPr>
          <p:cNvPr id="133" name="Shape 133"/>
          <p:cNvSpPr/>
          <p:nvPr/>
        </p:nvSpPr>
        <p:spPr>
          <a:xfrm>
            <a:off x="2067075" y="4480559"/>
            <a:ext cx="4713459" cy="701041"/>
          </a:xfrm>
          <a:custGeom>
            <a:avLst/>
            <a:gdLst/>
            <a:ahLst/>
            <a:cxnLst>
              <a:cxn ang="0">
                <a:pos x="wd2" y="hd2"/>
              </a:cxn>
              <a:cxn ang="5400000">
                <a:pos x="wd2" y="hd2"/>
              </a:cxn>
              <a:cxn ang="10800000">
                <a:pos x="wd2" y="hd2"/>
              </a:cxn>
              <a:cxn ang="16200000">
                <a:pos x="wd2" y="hd2"/>
              </a:cxn>
            </a:cxnLst>
            <a:rect l="0" t="0" r="r" b="b"/>
            <a:pathLst>
              <a:path w="20953" h="21600" extrusionOk="0">
                <a:moveTo>
                  <a:pt x="0" y="0"/>
                </a:moveTo>
                <a:lnTo>
                  <a:pt x="20934" y="2009"/>
                </a:lnTo>
                <a:cubicBezTo>
                  <a:pt x="21600" y="2763"/>
                  <a:pt x="4629" y="3600"/>
                  <a:pt x="3997" y="4521"/>
                </a:cubicBezTo>
                <a:cubicBezTo>
                  <a:pt x="3365" y="5442"/>
                  <a:pt x="16632" y="6614"/>
                  <a:pt x="17140" y="7535"/>
                </a:cubicBezTo>
                <a:cubicBezTo>
                  <a:pt x="17648" y="8456"/>
                  <a:pt x="7678" y="9209"/>
                  <a:pt x="7046" y="10047"/>
                </a:cubicBezTo>
                <a:cubicBezTo>
                  <a:pt x="6413" y="10884"/>
                  <a:pt x="12770" y="11763"/>
                  <a:pt x="13346" y="12558"/>
                </a:cubicBezTo>
                <a:cubicBezTo>
                  <a:pt x="13922" y="13353"/>
                  <a:pt x="11009" y="13312"/>
                  <a:pt x="10501" y="14819"/>
                </a:cubicBezTo>
                <a:cubicBezTo>
                  <a:pt x="9993" y="16326"/>
                  <a:pt x="10145" y="18963"/>
                  <a:pt x="10298" y="21600"/>
                </a:cubicBezTo>
              </a:path>
            </a:pathLst>
          </a:custGeom>
          <a:ln w="25400">
            <a:solidFill/>
            <a:round/>
          </a:ln>
        </p:spPr>
        <p:txBody>
          <a:bodyPr lIns="0" tIns="0" rIns="0" bIns="0"/>
          <a:lstStyle/>
          <a:p>
            <a:pPr lvl="0" defTabSz="457200">
              <a:buClrTx/>
              <a:defRPr sz="1200">
                <a:uFillTx/>
                <a:latin typeface="Helvetica"/>
                <a:ea typeface="Helvetica"/>
                <a:cs typeface="Helvetica"/>
                <a:sym typeface="Helvetica"/>
              </a:defRPr>
            </a:pPr>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 name="image1.png"/>
          <p:cNvPicPr/>
          <p:nvPr/>
        </p:nvPicPr>
        <p:blipFill>
          <a:blip r:embed="rId3"/>
          <a:stretch>
            <a:fillRect/>
          </a:stretch>
        </p:blipFill>
        <p:spPr>
          <a:xfrm>
            <a:off x="7848600" y="6311900"/>
            <a:ext cx="1117600" cy="393700"/>
          </a:xfrm>
          <a:prstGeom prst="rect">
            <a:avLst/>
          </a:prstGeom>
          <a:ln w="12700">
            <a:miter lim="400000"/>
          </a:ln>
        </p:spPr>
      </p:pic>
      <p:sp>
        <p:nvSpPr>
          <p:cNvPr id="138" name="Shape 138"/>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139" name="Shape 139"/>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Trade-off sliders</a:t>
            </a:r>
          </a:p>
        </p:txBody>
      </p:sp>
      <p:graphicFrame>
        <p:nvGraphicFramePr>
          <p:cNvPr id="140" name="Table 140"/>
          <p:cNvGraphicFramePr/>
          <p:nvPr/>
        </p:nvGraphicFramePr>
        <p:xfrm>
          <a:off x="457200" y="1371600"/>
          <a:ext cx="8229600" cy="2660750"/>
        </p:xfrm>
        <a:graphic>
          <a:graphicData uri="http://schemas.openxmlformats.org/drawingml/2006/table">
            <a:tbl>
              <a:tblPr firstRow="1" bandRow="1">
                <a:tableStyleId>{8F44A2F1-9E1F-4B54-A3A2-5F16C0AD49E2}</a:tableStyleId>
              </a:tblPr>
              <a:tblGrid>
                <a:gridCol w="30480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77825">
                <a:tc>
                  <a:txBody>
                    <a:bodyPr/>
                    <a:lstStyle/>
                    <a:p>
                      <a:pPr lvl="0" algn="l">
                        <a:tabLst>
                          <a:tab pos="914400" algn="l"/>
                        </a:tabLst>
                        <a:defRPr sz="1800" b="0">
                          <a:uFill>
                            <a:solidFill>
                              <a:srgbClr val="FFFFFF"/>
                            </a:solidFill>
                          </a:uFill>
                        </a:defRPr>
                      </a:pPr>
                      <a:endParaRPr/>
                    </a:p>
                  </a:txBody>
                  <a:tcPr marL="38100" marR="38100" marT="38100" marB="38100" anchor="ctr" horzOverflow="overflow"/>
                </a:tc>
                <a:tc>
                  <a:txBody>
                    <a:bodyPr/>
                    <a:lstStyle/>
                    <a:p>
                      <a:pPr lvl="0" algn="l">
                        <a:tabLst>
                          <a:tab pos="914400" algn="l"/>
                        </a:tabLst>
                        <a:defRPr sz="1800" b="0">
                          <a:solidFill>
                            <a:srgbClr val="000000"/>
                          </a:solidFill>
                          <a:uFillTx/>
                        </a:defRPr>
                      </a:pPr>
                      <a:r>
                        <a:rPr sz="2800">
                          <a:solidFill>
                            <a:srgbClr val="FFFFFF"/>
                          </a:solidFill>
                          <a:uFill>
                            <a:solidFill>
                              <a:srgbClr val="FFFFFF"/>
                            </a:solidFill>
                          </a:uFill>
                        </a:rPr>
                        <a:t>The classic four</a:t>
                      </a:r>
                    </a:p>
                  </a:txBody>
                  <a:tcPr marL="38100" marR="38100" marT="38100" marB="38100" anchor="ctr" horzOverflow="overflow"/>
                </a:tc>
                <a:extLst>
                  <a:ext uri="{0D108BD9-81ED-4DB2-BD59-A6C34878D82A}">
                    <a16:rowId xmlns:a16="http://schemas.microsoft.com/office/drawing/2014/main" val="10000"/>
                  </a:ext>
                </a:extLst>
              </a:tr>
              <a:tr h="612775">
                <a:tc>
                  <a:txBody>
                    <a:bodyPr/>
                    <a:lstStyle/>
                    <a:p>
                      <a:pPr lvl="0" algn="l">
                        <a:tabLst>
                          <a:tab pos="914400" algn="l"/>
                        </a:tabLst>
                        <a:defRPr sz="1800">
                          <a:uFill>
                            <a:solidFill>
                              <a:srgbClr val="000000"/>
                            </a:solidFill>
                          </a:uFill>
                        </a:defRPr>
                      </a:pPr>
                      <a:endParaRPr/>
                    </a:p>
                  </a:txBody>
                  <a:tcPr marL="63500" marR="63500" marT="63500" marB="63500" anchor="ctr" horzOverflow="overflow"/>
                </a:tc>
                <a:tc>
                  <a:txBody>
                    <a:bodyPr/>
                    <a:lstStyle/>
                    <a:p>
                      <a:pPr lvl="0" algn="l">
                        <a:tabLst>
                          <a:tab pos="914400" algn="l"/>
                        </a:tabLst>
                        <a:defRPr sz="1800">
                          <a:uFillTx/>
                        </a:defRPr>
                      </a:pPr>
                      <a:r>
                        <a:rPr sz="2400">
                          <a:uFill>
                            <a:solidFill/>
                          </a:uFill>
                        </a:rPr>
                        <a:t>Feature completeness (scope)</a:t>
                      </a:r>
                    </a:p>
                  </a:txBody>
                  <a:tcPr marL="88900" marR="88900" marT="88900" marB="88900" anchor="ctr" horzOverflow="overflow"/>
                </a:tc>
                <a:extLst>
                  <a:ext uri="{0D108BD9-81ED-4DB2-BD59-A6C34878D82A}">
                    <a16:rowId xmlns:a16="http://schemas.microsoft.com/office/drawing/2014/main" val="10001"/>
                  </a:ext>
                </a:extLst>
              </a:tr>
              <a:tr h="520700">
                <a:tc>
                  <a:txBody>
                    <a:bodyPr/>
                    <a:lstStyle/>
                    <a:p>
                      <a:pPr lvl="0" algn="l">
                        <a:tabLst>
                          <a:tab pos="914400" algn="l"/>
                        </a:tabLst>
                        <a:defRPr sz="18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Stay within budget (budget)</a:t>
                      </a:r>
                    </a:p>
                  </a:txBody>
                  <a:tcPr marL="38100" marR="38100" marT="38100" marB="38100" anchor="ctr" horzOverflow="overflow"/>
                </a:tc>
                <a:extLst>
                  <a:ext uri="{0D108BD9-81ED-4DB2-BD59-A6C34878D82A}">
                    <a16:rowId xmlns:a16="http://schemas.microsoft.com/office/drawing/2014/main" val="10002"/>
                  </a:ext>
                </a:extLst>
              </a:tr>
              <a:tr h="582395">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Deliver project on time (time)</a:t>
                      </a:r>
                    </a:p>
                  </a:txBody>
                  <a:tcPr marL="38100" marR="38100" marT="38100" marB="38100" anchor="ctr" horzOverflow="overflow"/>
                </a:tc>
                <a:extLst>
                  <a:ext uri="{0D108BD9-81ED-4DB2-BD59-A6C34878D82A}">
                    <a16:rowId xmlns:a16="http://schemas.microsoft.com/office/drawing/2014/main" val="10003"/>
                  </a:ext>
                </a:extLst>
              </a:tr>
              <a:tr h="377825">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High quality, low defects (quality)</a:t>
                      </a:r>
                    </a:p>
                  </a:txBody>
                  <a:tcPr marL="38100" marR="38100" marT="38100" marB="38100" anchor="ctr" horzOverflow="overflow"/>
                </a:tc>
                <a:extLst>
                  <a:ext uri="{0D108BD9-81ED-4DB2-BD59-A6C34878D82A}">
                    <a16:rowId xmlns:a16="http://schemas.microsoft.com/office/drawing/2014/main" val="10004"/>
                  </a:ext>
                </a:extLst>
              </a:tr>
            </a:tbl>
          </a:graphicData>
        </a:graphic>
      </p:graphicFrame>
      <p:grpSp>
        <p:nvGrpSpPr>
          <p:cNvPr id="147" name="Group 147"/>
          <p:cNvGrpSpPr/>
          <p:nvPr/>
        </p:nvGrpSpPr>
        <p:grpSpPr>
          <a:xfrm>
            <a:off x="654083" y="2011362"/>
            <a:ext cx="2518554" cy="274639"/>
            <a:chOff x="-84833" y="0"/>
            <a:chExt cx="2518554" cy="274638"/>
          </a:xfrm>
        </p:grpSpPr>
        <p:sp>
          <p:nvSpPr>
            <p:cNvPr id="141" name="Shape 141"/>
            <p:cNvSpPr/>
            <p:nvPr/>
          </p:nvSpPr>
          <p:spPr>
            <a:xfrm>
              <a:off x="-84833" y="0"/>
              <a:ext cx="463651"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42" name="Shape 142"/>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43" name="Shape 143"/>
            <p:cNvSpPr/>
            <p:nvPr/>
          </p:nvSpPr>
          <p:spPr>
            <a:xfrm>
              <a:off x="2054903" y="0"/>
              <a:ext cx="378818"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44" name="Shape 144"/>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45" name="Shape 145"/>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46" name="Shape 146"/>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aphicFrame>
        <p:nvGraphicFramePr>
          <p:cNvPr id="148" name="Table 148"/>
          <p:cNvGraphicFramePr/>
          <p:nvPr>
            <p:extLst>
              <p:ext uri="{D42A27DB-BD31-4B8C-83A1-F6EECF244321}">
                <p14:modId xmlns:p14="http://schemas.microsoft.com/office/powerpoint/2010/main" val="1482410754"/>
              </p:ext>
            </p:extLst>
          </p:nvPr>
        </p:nvGraphicFramePr>
        <p:xfrm>
          <a:off x="457200" y="4157879"/>
          <a:ext cx="8229600" cy="2632174"/>
        </p:xfrm>
        <a:graphic>
          <a:graphicData uri="http://schemas.openxmlformats.org/drawingml/2006/table">
            <a:tbl>
              <a:tblPr firstRow="1" bandRow="1">
                <a:tableStyleId>{8F44A2F1-9E1F-4B54-A3A2-5F16C0AD49E2}</a:tableStyleId>
              </a:tblPr>
              <a:tblGrid>
                <a:gridCol w="30480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77825">
                <a:tc>
                  <a:txBody>
                    <a:bodyPr/>
                    <a:lstStyle/>
                    <a:p>
                      <a:pPr lvl="0" algn="l">
                        <a:tabLst>
                          <a:tab pos="914400" algn="l"/>
                        </a:tabLst>
                        <a:defRPr sz="1800" b="0">
                          <a:uFill>
                            <a:solidFill>
                              <a:srgbClr val="FFFFFF"/>
                            </a:solidFill>
                          </a:uFill>
                        </a:defRPr>
                      </a:pPr>
                      <a:endParaRPr/>
                    </a:p>
                  </a:txBody>
                  <a:tcPr marL="38100" marR="38100" marT="38100" marB="38100" anchor="ctr" horzOverflow="overflow"/>
                </a:tc>
                <a:tc>
                  <a:txBody>
                    <a:bodyPr/>
                    <a:lstStyle/>
                    <a:p>
                      <a:pPr lvl="0" algn="l">
                        <a:tabLst>
                          <a:tab pos="914400" algn="l"/>
                        </a:tabLst>
                        <a:defRPr sz="1800" b="0">
                          <a:solidFill>
                            <a:srgbClr val="000000"/>
                          </a:solidFill>
                          <a:uFillTx/>
                        </a:defRPr>
                      </a:pPr>
                      <a:r>
                        <a:rPr sz="2800">
                          <a:solidFill>
                            <a:srgbClr val="FFFFFF"/>
                          </a:solidFill>
                          <a:uFill>
                            <a:solidFill>
                              <a:srgbClr val="FFFFFF"/>
                            </a:solidFill>
                          </a:uFill>
                        </a:rPr>
                        <a:t>Other important things</a:t>
                      </a:r>
                    </a:p>
                  </a:txBody>
                  <a:tcPr marL="38100" marR="38100" marT="38100" marB="38100" anchor="ctr" horzOverflow="overflow"/>
                </a:tc>
                <a:extLst>
                  <a:ext uri="{0D108BD9-81ED-4DB2-BD59-A6C34878D82A}">
                    <a16:rowId xmlns:a16="http://schemas.microsoft.com/office/drawing/2014/main" val="10000"/>
                  </a:ext>
                </a:extLst>
              </a:tr>
              <a:tr h="508000">
                <a:tc>
                  <a:txBody>
                    <a:bodyPr/>
                    <a:lstStyle/>
                    <a:p>
                      <a:pPr lvl="0" algn="l">
                        <a:tabLst>
                          <a:tab pos="914400" algn="l"/>
                        </a:tabLst>
                        <a:defRPr sz="1800">
                          <a:uFill>
                            <a:solidFill>
                              <a:srgbClr val="000000"/>
                            </a:solidFill>
                          </a:uFill>
                        </a:defRPr>
                      </a:pPr>
                      <a:endParaRPr/>
                    </a:p>
                  </a:txBody>
                  <a:tcPr marL="63500" marR="63500" marT="63500" marB="63500" anchor="ctr" horzOverflow="overflow"/>
                </a:tc>
                <a:tc>
                  <a:txBody>
                    <a:bodyPr/>
                    <a:lstStyle/>
                    <a:p>
                      <a:pPr lvl="0" algn="l">
                        <a:tabLst>
                          <a:tab pos="914400" algn="l"/>
                        </a:tabLst>
                        <a:defRPr sz="1800">
                          <a:uFillTx/>
                        </a:defRPr>
                      </a:pPr>
                      <a:r>
                        <a:rPr sz="2400">
                          <a:uFill>
                            <a:solidFill/>
                          </a:uFill>
                        </a:rPr>
                        <a:t>Ease of use</a:t>
                      </a:r>
                    </a:p>
                  </a:txBody>
                  <a:tcPr marL="88900" marR="88900" marT="88900" marB="88900" anchor="ctr" horzOverflow="overflow"/>
                </a:tc>
                <a:extLst>
                  <a:ext uri="{0D108BD9-81ED-4DB2-BD59-A6C34878D82A}">
                    <a16:rowId xmlns:a16="http://schemas.microsoft.com/office/drawing/2014/main" val="10001"/>
                  </a:ext>
                </a:extLst>
              </a:tr>
              <a:tr h="569695">
                <a:tc>
                  <a:txBody>
                    <a:bodyPr/>
                    <a:lstStyle/>
                    <a:p>
                      <a:pPr lvl="0" algn="l">
                        <a:tabLst>
                          <a:tab pos="914400" algn="l"/>
                        </a:tabLst>
                        <a:defRPr sz="18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lang="en-US" sz="2400">
                          <a:uFill>
                            <a:solidFill/>
                          </a:uFill>
                        </a:rPr>
                        <a:t>Security</a:t>
                      </a:r>
                      <a:endParaRPr sz="2400">
                        <a:uFill>
                          <a:solidFill/>
                        </a:uFill>
                      </a:endParaRPr>
                    </a:p>
                  </a:txBody>
                  <a:tcPr marL="38100" marR="38100" marT="38100" marB="38100" anchor="ctr" horzOverflow="overflow"/>
                </a:tc>
                <a:extLst>
                  <a:ext uri="{0D108BD9-81ED-4DB2-BD59-A6C34878D82A}">
                    <a16:rowId xmlns:a16="http://schemas.microsoft.com/office/drawing/2014/main" val="10002"/>
                  </a:ext>
                </a:extLst>
              </a:tr>
              <a:tr h="469900">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lang="en-US" sz="2400">
                          <a:uFill>
                            <a:solidFill/>
                          </a:uFill>
                        </a:rPr>
                        <a:t>Scalability</a:t>
                      </a:r>
                    </a:p>
                  </a:txBody>
                  <a:tcPr marL="38100" marR="38100" marT="38100" marB="38100" anchor="ctr" horzOverflow="overflow"/>
                </a:tc>
                <a:extLst>
                  <a:ext uri="{0D108BD9-81ED-4DB2-BD59-A6C34878D82A}">
                    <a16:rowId xmlns:a16="http://schemas.microsoft.com/office/drawing/2014/main" val="10003"/>
                  </a:ext>
                </a:extLst>
              </a:tr>
              <a:tr h="546099">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lang="en-US" sz="2400">
                          <a:uFill>
                            <a:solidFill/>
                          </a:uFill>
                        </a:rPr>
                        <a:t>Documentation</a:t>
                      </a:r>
                    </a:p>
                  </a:txBody>
                  <a:tcPr marL="38100" marR="38100" marT="38100" marB="38100" anchor="ctr" horzOverflow="overflow"/>
                </a:tc>
                <a:extLst>
                  <a:ext uri="{0D108BD9-81ED-4DB2-BD59-A6C34878D82A}">
                    <a16:rowId xmlns:a16="http://schemas.microsoft.com/office/drawing/2014/main" val="10004"/>
                  </a:ext>
                </a:extLst>
              </a:tr>
            </a:tbl>
          </a:graphicData>
        </a:graphic>
      </p:graphicFrame>
      <p:grpSp>
        <p:nvGrpSpPr>
          <p:cNvPr id="155" name="Group 155"/>
          <p:cNvGrpSpPr/>
          <p:nvPr/>
        </p:nvGrpSpPr>
        <p:grpSpPr>
          <a:xfrm>
            <a:off x="654083" y="2620963"/>
            <a:ext cx="2518554" cy="274638"/>
            <a:chOff x="-84833" y="0"/>
            <a:chExt cx="2518554" cy="274637"/>
          </a:xfrm>
        </p:grpSpPr>
        <p:sp>
          <p:nvSpPr>
            <p:cNvPr id="149" name="Shape 149"/>
            <p:cNvSpPr/>
            <p:nvPr/>
          </p:nvSpPr>
          <p:spPr>
            <a:xfrm>
              <a:off x="-84833" y="0"/>
              <a:ext cx="463651"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50" name="Shape 150"/>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1" name="Shape 151"/>
            <p:cNvSpPr/>
            <p:nvPr/>
          </p:nvSpPr>
          <p:spPr>
            <a:xfrm>
              <a:off x="2054903" y="0"/>
              <a:ext cx="378818"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52" name="Shape 152"/>
            <p:cNvSpPr/>
            <p:nvPr/>
          </p:nvSpPr>
          <p:spPr>
            <a:xfrm>
              <a:off x="1210510" y="0"/>
              <a:ext cx="1" cy="274637"/>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3" name="Shape 153"/>
            <p:cNvSpPr/>
            <p:nvPr/>
          </p:nvSpPr>
          <p:spPr>
            <a:xfrm>
              <a:off x="858680" y="0"/>
              <a:ext cx="1" cy="274637"/>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4" name="Shape 154"/>
            <p:cNvSpPr/>
            <p:nvPr/>
          </p:nvSpPr>
          <p:spPr>
            <a:xfrm>
              <a:off x="1562341" y="0"/>
              <a:ext cx="1" cy="274637"/>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62" name="Group 162"/>
          <p:cNvGrpSpPr/>
          <p:nvPr/>
        </p:nvGrpSpPr>
        <p:grpSpPr>
          <a:xfrm>
            <a:off x="654083" y="3154362"/>
            <a:ext cx="2518554" cy="274639"/>
            <a:chOff x="-84833" y="0"/>
            <a:chExt cx="2518554" cy="274638"/>
          </a:xfrm>
        </p:grpSpPr>
        <p:sp>
          <p:nvSpPr>
            <p:cNvPr id="156" name="Shape 156"/>
            <p:cNvSpPr/>
            <p:nvPr/>
          </p:nvSpPr>
          <p:spPr>
            <a:xfrm>
              <a:off x="-84833" y="0"/>
              <a:ext cx="463651"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57" name="Shape 157"/>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8" name="Shape 158"/>
            <p:cNvSpPr/>
            <p:nvPr/>
          </p:nvSpPr>
          <p:spPr>
            <a:xfrm>
              <a:off x="2054903" y="0"/>
              <a:ext cx="378818"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59" name="Shape 159"/>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0" name="Shape 160"/>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1" name="Shape 161"/>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69" name="Group 169"/>
          <p:cNvGrpSpPr/>
          <p:nvPr/>
        </p:nvGrpSpPr>
        <p:grpSpPr>
          <a:xfrm>
            <a:off x="654083" y="3687762"/>
            <a:ext cx="2518554" cy="274639"/>
            <a:chOff x="-84833" y="0"/>
            <a:chExt cx="2518554" cy="274638"/>
          </a:xfrm>
        </p:grpSpPr>
        <p:sp>
          <p:nvSpPr>
            <p:cNvPr id="163" name="Shape 163"/>
            <p:cNvSpPr/>
            <p:nvPr/>
          </p:nvSpPr>
          <p:spPr>
            <a:xfrm>
              <a:off x="-84833" y="0"/>
              <a:ext cx="463651"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64" name="Shape 164"/>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5" name="Shape 165"/>
            <p:cNvSpPr/>
            <p:nvPr/>
          </p:nvSpPr>
          <p:spPr>
            <a:xfrm>
              <a:off x="2054903" y="0"/>
              <a:ext cx="378818"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66" name="Shape 166"/>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7" name="Shape 167"/>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8" name="Shape 168"/>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76" name="Group 176"/>
          <p:cNvGrpSpPr/>
          <p:nvPr/>
        </p:nvGrpSpPr>
        <p:grpSpPr>
          <a:xfrm>
            <a:off x="654083" y="4754562"/>
            <a:ext cx="2518554" cy="274639"/>
            <a:chOff x="-84833" y="0"/>
            <a:chExt cx="2518554" cy="274638"/>
          </a:xfrm>
        </p:grpSpPr>
        <p:sp>
          <p:nvSpPr>
            <p:cNvPr id="170" name="Shape 170"/>
            <p:cNvSpPr/>
            <p:nvPr/>
          </p:nvSpPr>
          <p:spPr>
            <a:xfrm>
              <a:off x="-84833" y="0"/>
              <a:ext cx="463651"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71" name="Shape 171"/>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2" name="Shape 172"/>
            <p:cNvSpPr/>
            <p:nvPr/>
          </p:nvSpPr>
          <p:spPr>
            <a:xfrm>
              <a:off x="2054903" y="0"/>
              <a:ext cx="378818"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73" name="Shape 173"/>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4" name="Shape 174"/>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5" name="Shape 175"/>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83" name="Group 183"/>
          <p:cNvGrpSpPr/>
          <p:nvPr/>
        </p:nvGrpSpPr>
        <p:grpSpPr>
          <a:xfrm>
            <a:off x="654083" y="5287962"/>
            <a:ext cx="2518554" cy="274639"/>
            <a:chOff x="-84833" y="0"/>
            <a:chExt cx="2518554" cy="274638"/>
          </a:xfrm>
        </p:grpSpPr>
        <p:sp>
          <p:nvSpPr>
            <p:cNvPr id="177" name="Shape 177"/>
            <p:cNvSpPr/>
            <p:nvPr/>
          </p:nvSpPr>
          <p:spPr>
            <a:xfrm>
              <a:off x="-84833" y="0"/>
              <a:ext cx="463651"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78" name="Shape 178"/>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9" name="Shape 179"/>
            <p:cNvSpPr/>
            <p:nvPr/>
          </p:nvSpPr>
          <p:spPr>
            <a:xfrm>
              <a:off x="2054903" y="0"/>
              <a:ext cx="378818"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80" name="Shape 180"/>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1" name="Shape 181"/>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2" name="Shape 182"/>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90" name="Group 190"/>
          <p:cNvGrpSpPr/>
          <p:nvPr/>
        </p:nvGrpSpPr>
        <p:grpSpPr>
          <a:xfrm>
            <a:off x="654083" y="5821362"/>
            <a:ext cx="2518554" cy="274639"/>
            <a:chOff x="-84833" y="0"/>
            <a:chExt cx="2518554" cy="274638"/>
          </a:xfrm>
        </p:grpSpPr>
        <p:sp>
          <p:nvSpPr>
            <p:cNvPr id="184" name="Shape 184"/>
            <p:cNvSpPr/>
            <p:nvPr/>
          </p:nvSpPr>
          <p:spPr>
            <a:xfrm>
              <a:off x="-84833" y="0"/>
              <a:ext cx="463651"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85" name="Shape 185"/>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6" name="Shape 186"/>
            <p:cNvSpPr/>
            <p:nvPr/>
          </p:nvSpPr>
          <p:spPr>
            <a:xfrm>
              <a:off x="2054903" y="0"/>
              <a:ext cx="378818"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87" name="Shape 187"/>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8" name="Shape 188"/>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9" name="Shape 189"/>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97" name="Group 197"/>
          <p:cNvGrpSpPr/>
          <p:nvPr/>
        </p:nvGrpSpPr>
        <p:grpSpPr>
          <a:xfrm>
            <a:off x="654083" y="6354762"/>
            <a:ext cx="2518554" cy="274639"/>
            <a:chOff x="-84833" y="0"/>
            <a:chExt cx="2518554" cy="274638"/>
          </a:xfrm>
        </p:grpSpPr>
        <p:sp>
          <p:nvSpPr>
            <p:cNvPr id="191" name="Shape 191"/>
            <p:cNvSpPr/>
            <p:nvPr/>
          </p:nvSpPr>
          <p:spPr>
            <a:xfrm>
              <a:off x="-84833" y="0"/>
              <a:ext cx="463651"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92" name="Shape 192"/>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93" name="Shape 193"/>
            <p:cNvSpPr/>
            <p:nvPr/>
          </p:nvSpPr>
          <p:spPr>
            <a:xfrm>
              <a:off x="2054903" y="0"/>
              <a:ext cx="378818"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94" name="Shape 194"/>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95" name="Shape 195"/>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96" name="Shape 196"/>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sp>
        <p:nvSpPr>
          <p:cNvPr id="198" name="Shape 198"/>
          <p:cNvSpPr/>
          <p:nvPr/>
        </p:nvSpPr>
        <p:spPr>
          <a:xfrm>
            <a:off x="2440871" y="1920446"/>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99" name="Shape 199"/>
          <p:cNvSpPr/>
          <p:nvPr/>
        </p:nvSpPr>
        <p:spPr>
          <a:xfrm>
            <a:off x="1187279" y="2530044"/>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0" name="Shape 200"/>
          <p:cNvSpPr/>
          <p:nvPr/>
        </p:nvSpPr>
        <p:spPr>
          <a:xfrm>
            <a:off x="1938982" y="3063444"/>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1" name="Shape 201"/>
          <p:cNvSpPr/>
          <p:nvPr/>
        </p:nvSpPr>
        <p:spPr>
          <a:xfrm>
            <a:off x="2442519" y="3601995"/>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2" name="Shape 202"/>
          <p:cNvSpPr/>
          <p:nvPr/>
        </p:nvSpPr>
        <p:spPr>
          <a:xfrm>
            <a:off x="2447540" y="4663644"/>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3" name="Shape 203"/>
          <p:cNvSpPr/>
          <p:nvPr/>
        </p:nvSpPr>
        <p:spPr>
          <a:xfrm>
            <a:off x="1413820" y="5197044"/>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4" name="Shape 204"/>
          <p:cNvSpPr/>
          <p:nvPr/>
        </p:nvSpPr>
        <p:spPr>
          <a:xfrm>
            <a:off x="1937894" y="5730444"/>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5" name="Shape 205"/>
          <p:cNvSpPr/>
          <p:nvPr/>
        </p:nvSpPr>
        <p:spPr>
          <a:xfrm>
            <a:off x="2324100" y="6248398"/>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ED14A-2B9D-9050-7EAD-3884B4434865}"/>
            </a:ext>
          </a:extLst>
        </p:cNvPr>
        <p:cNvGrpSpPr/>
        <p:nvPr/>
      </p:nvGrpSpPr>
      <p:grpSpPr>
        <a:xfrm>
          <a:off x="0" y="0"/>
          <a:ext cx="0" cy="0"/>
          <a:chOff x="0" y="0"/>
          <a:chExt cx="0" cy="0"/>
        </a:xfrm>
      </p:grpSpPr>
      <p:pic>
        <p:nvPicPr>
          <p:cNvPr id="137" name="image1.png">
            <a:extLst>
              <a:ext uri="{FF2B5EF4-FFF2-40B4-BE49-F238E27FC236}">
                <a16:creationId xmlns:a16="http://schemas.microsoft.com/office/drawing/2014/main" id="{760CFE93-82AA-3145-9CE3-A11BD0740496}"/>
              </a:ext>
            </a:extLst>
          </p:cNvPr>
          <p:cNvPicPr/>
          <p:nvPr/>
        </p:nvPicPr>
        <p:blipFill>
          <a:blip r:embed="rId3"/>
          <a:stretch>
            <a:fillRect/>
          </a:stretch>
        </p:blipFill>
        <p:spPr>
          <a:xfrm>
            <a:off x="7848600" y="6311900"/>
            <a:ext cx="1117600" cy="393700"/>
          </a:xfrm>
          <a:prstGeom prst="rect">
            <a:avLst/>
          </a:prstGeom>
          <a:ln w="12700">
            <a:miter lim="400000"/>
          </a:ln>
        </p:spPr>
      </p:pic>
      <p:sp>
        <p:nvSpPr>
          <p:cNvPr id="139" name="Shape 139">
            <a:extLst>
              <a:ext uri="{FF2B5EF4-FFF2-40B4-BE49-F238E27FC236}">
                <a16:creationId xmlns:a16="http://schemas.microsoft.com/office/drawing/2014/main" id="{711BE0B0-C493-663A-38DF-28E2F00528D9}"/>
              </a:ext>
            </a:extLst>
          </p:cNvPr>
          <p:cNvSpPr>
            <a:spLocks noGrp="1"/>
          </p:cNvSpPr>
          <p:nvPr>
            <p:ph type="title"/>
          </p:nvPr>
        </p:nvSpPr>
        <p:spPr>
          <a:prstGeom prst="rect">
            <a:avLst/>
          </a:prstGeom>
        </p:spPr>
        <p:txBody>
          <a:bodyPr/>
          <a:lstStyle/>
          <a:p>
            <a:pPr lvl="0">
              <a:defRPr sz="1800">
                <a:solidFill>
                  <a:srgbClr val="000000"/>
                </a:solidFill>
                <a:uFillTx/>
              </a:defRPr>
            </a:pPr>
            <a:r>
              <a:rPr lang="en-US" sz="4400">
                <a:solidFill>
                  <a:srgbClr val="1D4871"/>
                </a:solidFill>
                <a:uFill>
                  <a:solidFill>
                    <a:srgbClr val="1D4871"/>
                  </a:solidFill>
                </a:uFill>
              </a:rPr>
              <a:t>User Stories Priorities</a:t>
            </a:r>
            <a:endParaRPr sz="4400">
              <a:solidFill>
                <a:srgbClr val="1D4871"/>
              </a:solidFill>
              <a:uFill>
                <a:solidFill>
                  <a:srgbClr val="1D4871"/>
                </a:solidFill>
              </a:uFill>
            </a:endParaRPr>
          </a:p>
        </p:txBody>
      </p:sp>
      <p:graphicFrame>
        <p:nvGraphicFramePr>
          <p:cNvPr id="140" name="Table 140">
            <a:extLst>
              <a:ext uri="{FF2B5EF4-FFF2-40B4-BE49-F238E27FC236}">
                <a16:creationId xmlns:a16="http://schemas.microsoft.com/office/drawing/2014/main" id="{379042E7-BAA6-3019-E614-EF28E0634717}"/>
              </a:ext>
            </a:extLst>
          </p:cNvPr>
          <p:cNvGraphicFramePr/>
          <p:nvPr>
            <p:extLst>
              <p:ext uri="{D42A27DB-BD31-4B8C-83A1-F6EECF244321}">
                <p14:modId xmlns:p14="http://schemas.microsoft.com/office/powerpoint/2010/main" val="3533040360"/>
              </p:ext>
            </p:extLst>
          </p:nvPr>
        </p:nvGraphicFramePr>
        <p:xfrm>
          <a:off x="457200" y="1303307"/>
          <a:ext cx="8229600" cy="4901777"/>
        </p:xfrm>
        <a:graphic>
          <a:graphicData uri="http://schemas.openxmlformats.org/drawingml/2006/table">
            <a:tbl>
              <a:tblPr firstRow="1" bandRow="1">
                <a:tableStyleId>{8F44A2F1-9E1F-4B54-A3A2-5F16C0AD49E2}</a:tableStyleId>
              </a:tblPr>
              <a:tblGrid>
                <a:gridCol w="880147">
                  <a:extLst>
                    <a:ext uri="{9D8B030D-6E8A-4147-A177-3AD203B41FA5}">
                      <a16:colId xmlns:a16="http://schemas.microsoft.com/office/drawing/2014/main" val="20000"/>
                    </a:ext>
                  </a:extLst>
                </a:gridCol>
                <a:gridCol w="7349453">
                  <a:extLst>
                    <a:ext uri="{9D8B030D-6E8A-4147-A177-3AD203B41FA5}">
                      <a16:colId xmlns:a16="http://schemas.microsoft.com/office/drawing/2014/main" val="20001"/>
                    </a:ext>
                  </a:extLst>
                </a:gridCol>
              </a:tblGrid>
              <a:tr h="355826">
                <a:tc>
                  <a:txBody>
                    <a:bodyPr/>
                    <a:lstStyle/>
                    <a:p>
                      <a:pPr lvl="0" algn="l">
                        <a:tabLst>
                          <a:tab pos="914400" algn="l"/>
                        </a:tabLst>
                        <a:defRPr sz="1800" b="0">
                          <a:uFill>
                            <a:solidFill>
                              <a:srgbClr val="FFFFFF"/>
                            </a:solidFill>
                          </a:uFill>
                        </a:defRPr>
                      </a:pPr>
                      <a:r>
                        <a:rPr lang="en-US"/>
                        <a:t>Priority</a:t>
                      </a:r>
                      <a:endParaRPr/>
                    </a:p>
                  </a:txBody>
                  <a:tcPr marL="38100" marR="38100" marT="38100" marB="38100" anchor="ctr" horzOverflow="overflow"/>
                </a:tc>
                <a:tc>
                  <a:txBody>
                    <a:bodyPr/>
                    <a:lstStyle/>
                    <a:p>
                      <a:pPr lvl="0" algn="l">
                        <a:tabLst>
                          <a:tab pos="914400" algn="l"/>
                        </a:tabLst>
                        <a:defRPr sz="1800" b="0">
                          <a:solidFill>
                            <a:srgbClr val="000000"/>
                          </a:solidFill>
                          <a:uFillTx/>
                        </a:defRPr>
                      </a:pPr>
                      <a:r>
                        <a:rPr lang="en-US" sz="1800">
                          <a:solidFill>
                            <a:srgbClr val="FFFFFF"/>
                          </a:solidFill>
                          <a:uFill>
                            <a:solidFill>
                              <a:srgbClr val="FFFFFF"/>
                            </a:solidFill>
                          </a:uFill>
                        </a:rPr>
                        <a:t>User Stories</a:t>
                      </a:r>
                      <a:endParaRPr sz="1800">
                        <a:solidFill>
                          <a:srgbClr val="FFFFFF"/>
                        </a:solidFill>
                        <a:uFill>
                          <a:solidFill>
                            <a:srgbClr val="FFFFFF"/>
                          </a:solidFill>
                        </a:uFill>
                      </a:endParaRPr>
                    </a:p>
                  </a:txBody>
                  <a:tcPr marL="38100" marR="38100" marT="38100" marB="38100" anchor="ctr" horzOverflow="overflow"/>
                </a:tc>
                <a:extLst>
                  <a:ext uri="{0D108BD9-81ED-4DB2-BD59-A6C34878D82A}">
                    <a16:rowId xmlns:a16="http://schemas.microsoft.com/office/drawing/2014/main" val="10000"/>
                  </a:ext>
                </a:extLst>
              </a:tr>
              <a:tr h="324000">
                <a:tc>
                  <a:txBody>
                    <a:bodyPr/>
                    <a:lstStyle/>
                    <a:p>
                      <a:pPr lvl="0" algn="ctr">
                        <a:tabLst>
                          <a:tab pos="914400" algn="l"/>
                        </a:tabLst>
                        <a:defRPr sz="1800">
                          <a:uFill>
                            <a:solidFill>
                              <a:srgbClr val="000000"/>
                            </a:solidFill>
                          </a:uFill>
                        </a:defRPr>
                      </a:pPr>
                      <a:r>
                        <a:rPr lang="en-US" sz="1000"/>
                        <a:t>1</a:t>
                      </a:r>
                      <a:endParaRPr sz="1000"/>
                    </a:p>
                  </a:txBody>
                  <a:tcPr marL="63500" marR="63500" marT="63500" marB="63500" anchor="ctr" horzOverflow="overflow"/>
                </a:tc>
                <a:tc>
                  <a:txBody>
                    <a:bodyPr/>
                    <a:lstStyle/>
                    <a:p>
                      <a:pPr lvl="0" algn="l">
                        <a:tabLst>
                          <a:tab pos="914400" algn="l"/>
                        </a:tabLst>
                        <a:defRPr sz="1800">
                          <a:uFillTx/>
                        </a:defRPr>
                      </a:pPr>
                      <a:r>
                        <a:rPr lang="en-US" sz="1000" dirty="0">
                          <a:uFill>
                            <a:solidFill/>
                          </a:uFill>
                        </a:rPr>
                        <a:t>As a teacher, I want to be able to set my office hours, so that students can see when I'm available</a:t>
                      </a:r>
                      <a:endParaRPr sz="1000" dirty="0">
                        <a:uFill>
                          <a:solidFill/>
                        </a:uFill>
                      </a:endParaRPr>
                    </a:p>
                  </a:txBody>
                  <a:tcPr marL="88900" marR="88900" marT="88900" marB="88900" anchor="ctr" horzOverflow="overflow"/>
                </a:tc>
                <a:extLst>
                  <a:ext uri="{0D108BD9-81ED-4DB2-BD59-A6C34878D82A}">
                    <a16:rowId xmlns:a16="http://schemas.microsoft.com/office/drawing/2014/main" val="10001"/>
                  </a:ext>
                </a:extLst>
              </a:tr>
              <a:tr h="285080">
                <a:tc>
                  <a:txBody>
                    <a:bodyPr/>
                    <a:lstStyle/>
                    <a:p>
                      <a:pPr lvl="0" algn="ctr">
                        <a:tabLst>
                          <a:tab pos="914400" algn="l"/>
                        </a:tabLst>
                        <a:defRPr sz="1800">
                          <a:uFill>
                            <a:solidFill>
                              <a:srgbClr val="000000"/>
                            </a:solidFill>
                          </a:uFill>
                        </a:defRPr>
                      </a:pPr>
                      <a:r>
                        <a:rPr lang="en-US" sz="1000"/>
                        <a:t>2</a:t>
                      </a:r>
                      <a:endParaRPr sz="1000"/>
                    </a:p>
                  </a:txBody>
                  <a:tcPr marL="38100" marR="38100" marT="38100" marB="38100" anchor="ctr" horzOverflow="overflow"/>
                </a:tc>
                <a:tc>
                  <a:txBody>
                    <a:bodyPr/>
                    <a:lstStyle/>
                    <a:p>
                      <a:pPr marL="0" marR="0" lvl="0" indent="0" algn="l" defTabSz="914400" eaLnBrk="1" fontAlgn="auto" latinLnBrk="0" hangingPunct="1">
                        <a:lnSpc>
                          <a:spcPct val="100000"/>
                        </a:lnSpc>
                        <a:spcBef>
                          <a:spcPts val="0"/>
                        </a:spcBef>
                        <a:spcAft>
                          <a:spcPts val="0"/>
                        </a:spcAft>
                        <a:buClrTx/>
                        <a:buSzTx/>
                        <a:buFontTx/>
                        <a:buNone/>
                        <a:tabLst>
                          <a:tab pos="914400" algn="l"/>
                        </a:tabLst>
                        <a:defRPr sz="1800">
                          <a:uFillTx/>
                        </a:defRPr>
                      </a:pPr>
                      <a:r>
                        <a:rPr lang="en-US" sz="1000" dirty="0">
                          <a:uFill>
                            <a:solidFill/>
                          </a:uFill>
                        </a:rPr>
                        <a:t>As a student I want to be able to schedule meetings for a teacher, so that I can notify them of my intentions</a:t>
                      </a:r>
                    </a:p>
                  </a:txBody>
                  <a:tcPr marL="38100" marR="38100" marT="38100" marB="38100" anchor="ctr" horzOverflow="overflow"/>
                </a:tc>
                <a:extLst>
                  <a:ext uri="{0D108BD9-81ED-4DB2-BD59-A6C34878D82A}">
                    <a16:rowId xmlns:a16="http://schemas.microsoft.com/office/drawing/2014/main" val="10002"/>
                  </a:ext>
                </a:extLst>
              </a:tr>
              <a:tr h="285080">
                <a:tc>
                  <a:txBody>
                    <a:bodyPr/>
                    <a:lstStyle/>
                    <a:p>
                      <a:pPr lvl="0" algn="ctr">
                        <a:tabLst>
                          <a:tab pos="914400" algn="l"/>
                        </a:tabLst>
                        <a:defRPr sz="2000">
                          <a:uFill>
                            <a:solidFill>
                              <a:srgbClr val="000000"/>
                            </a:solidFill>
                          </a:uFill>
                        </a:defRPr>
                      </a:pPr>
                      <a:r>
                        <a:rPr lang="en-US" sz="1000"/>
                        <a:t>3</a:t>
                      </a:r>
                      <a:endParaRPr sz="1000"/>
                    </a:p>
                  </a:txBody>
                  <a:tcPr marL="38100" marR="38100" marT="38100" marB="38100" anchor="ctr" horzOverflow="overflow"/>
                </a:tc>
                <a:tc>
                  <a:txBody>
                    <a:bodyPr/>
                    <a:lstStyle/>
                    <a:p>
                      <a:pPr lvl="0" algn="l">
                        <a:tabLst>
                          <a:tab pos="914400" algn="l"/>
                        </a:tabLst>
                        <a:defRPr sz="1800">
                          <a:uFillTx/>
                        </a:defRPr>
                      </a:pPr>
                      <a:r>
                        <a:rPr lang="en-US" sz="1000" dirty="0">
                          <a:uFill>
                            <a:solidFill/>
                          </a:uFill>
                        </a:rPr>
                        <a:t>As a teacher I want to be able to see my office hours for the week, so that I can know what my week looks like</a:t>
                      </a:r>
                      <a:endParaRPr sz="1000" dirty="0">
                        <a:uFill>
                          <a:solidFill/>
                        </a:uFill>
                      </a:endParaRPr>
                    </a:p>
                  </a:txBody>
                  <a:tcPr marL="38100" marR="38100" marT="38100" marB="38100" anchor="ctr" horzOverflow="overflow"/>
                </a:tc>
                <a:extLst>
                  <a:ext uri="{0D108BD9-81ED-4DB2-BD59-A6C34878D82A}">
                    <a16:rowId xmlns:a16="http://schemas.microsoft.com/office/drawing/2014/main" val="10003"/>
                  </a:ext>
                </a:extLst>
              </a:tr>
              <a:tr h="285080">
                <a:tc>
                  <a:txBody>
                    <a:bodyPr/>
                    <a:lstStyle/>
                    <a:p>
                      <a:pPr lvl="0" algn="ctr">
                        <a:tabLst>
                          <a:tab pos="914400" algn="l"/>
                        </a:tabLst>
                        <a:defRPr sz="2000">
                          <a:uFill>
                            <a:solidFill>
                              <a:srgbClr val="000000"/>
                            </a:solidFill>
                          </a:uFill>
                        </a:defRPr>
                      </a:pPr>
                      <a:r>
                        <a:rPr lang="en-US" sz="1000"/>
                        <a:t>4</a:t>
                      </a:r>
                      <a:endParaRPr sz="1000"/>
                    </a:p>
                  </a:txBody>
                  <a:tcPr marL="38100" marR="38100" marT="38100" marB="38100" anchor="ctr" horzOverflow="overflow"/>
                </a:tc>
                <a:tc>
                  <a:txBody>
                    <a:bodyPr/>
                    <a:lstStyle/>
                    <a:p>
                      <a:pPr lvl="0" algn="l">
                        <a:tabLst>
                          <a:tab pos="914400" algn="l"/>
                        </a:tabLst>
                        <a:defRPr sz="1800">
                          <a:uFillTx/>
                        </a:defRPr>
                      </a:pPr>
                      <a:r>
                        <a:rPr lang="en-US" sz="1000" dirty="0">
                          <a:uFill>
                            <a:solidFill/>
                          </a:uFill>
                        </a:rPr>
                        <a:t>As a teacher I want to be able to override appointment details, so that I can free up my office hours in case of a change</a:t>
                      </a:r>
                      <a:endParaRPr sz="1000" dirty="0">
                        <a:uFill>
                          <a:solidFill/>
                        </a:uFill>
                      </a:endParaRPr>
                    </a:p>
                  </a:txBody>
                  <a:tcPr marL="38100" marR="38100" marT="38100" marB="38100" anchor="ctr" horzOverflow="overflow"/>
                </a:tc>
                <a:extLst>
                  <a:ext uri="{0D108BD9-81ED-4DB2-BD59-A6C34878D82A}">
                    <a16:rowId xmlns:a16="http://schemas.microsoft.com/office/drawing/2014/main" val="10004"/>
                  </a:ext>
                </a:extLst>
              </a:tr>
              <a:tr h="285080">
                <a:tc>
                  <a:txBody>
                    <a:bodyPr/>
                    <a:lstStyle/>
                    <a:p>
                      <a:pPr lvl="0" algn="ctr">
                        <a:tabLst>
                          <a:tab pos="914400" algn="l"/>
                        </a:tabLst>
                        <a:defRPr sz="2000">
                          <a:uFill>
                            <a:solidFill>
                              <a:srgbClr val="000000"/>
                            </a:solidFill>
                          </a:uFill>
                        </a:defRPr>
                      </a:pPr>
                      <a:r>
                        <a:rPr lang="en-US" sz="1000"/>
                        <a:t>5</a:t>
                      </a:r>
                      <a:endParaRPr sz="1000"/>
                    </a:p>
                  </a:txBody>
                  <a:tcPr marL="38100" marR="38100" marT="38100" marB="38100" anchor="ctr" horzOverflow="overflow"/>
                </a:tc>
                <a:tc>
                  <a:txBody>
                    <a:bodyPr/>
                    <a:lstStyle/>
                    <a:p>
                      <a:pPr lvl="0" algn="l">
                        <a:tabLst>
                          <a:tab pos="914400" algn="l"/>
                        </a:tabLst>
                        <a:defRPr sz="1800">
                          <a:uFillTx/>
                        </a:defRPr>
                      </a:pPr>
                      <a:r>
                        <a:rPr lang="en-US" sz="1000" dirty="0">
                          <a:uFill>
                            <a:solidFill/>
                          </a:uFill>
                        </a:rPr>
                        <a:t>As a student I want to be able to cancel the meeting, so that I can notify the teacher that I will not be able to attend</a:t>
                      </a:r>
                      <a:endParaRPr sz="1000" dirty="0">
                        <a:uFill>
                          <a:solidFill/>
                        </a:uFill>
                      </a:endParaRPr>
                    </a:p>
                  </a:txBody>
                  <a:tcPr marL="38100" marR="38100" marT="38100" marB="38100" anchor="ctr" horzOverflow="overflow"/>
                </a:tc>
                <a:extLst>
                  <a:ext uri="{0D108BD9-81ED-4DB2-BD59-A6C34878D82A}">
                    <a16:rowId xmlns:a16="http://schemas.microsoft.com/office/drawing/2014/main" val="2024109412"/>
                  </a:ext>
                </a:extLst>
              </a:tr>
              <a:tr h="285080">
                <a:tc>
                  <a:txBody>
                    <a:bodyPr/>
                    <a:lstStyle/>
                    <a:p>
                      <a:pPr lvl="0" algn="ctr">
                        <a:tabLst>
                          <a:tab pos="914400" algn="l"/>
                        </a:tabLst>
                        <a:defRPr sz="2000">
                          <a:uFill>
                            <a:solidFill>
                              <a:srgbClr val="000000"/>
                            </a:solidFill>
                          </a:uFill>
                        </a:defRPr>
                      </a:pPr>
                      <a:r>
                        <a:rPr lang="en-US" sz="1000"/>
                        <a:t>6</a:t>
                      </a:r>
                      <a:endParaRPr sz="1000"/>
                    </a:p>
                  </a:txBody>
                  <a:tcPr marL="38100" marR="38100" marT="38100" marB="38100" anchor="ctr" horzOverflow="overflow"/>
                </a:tc>
                <a:tc>
                  <a:txBody>
                    <a:bodyPr/>
                    <a:lstStyle/>
                    <a:p>
                      <a:pPr lvl="0" algn="l">
                        <a:tabLst>
                          <a:tab pos="914400" algn="l"/>
                        </a:tabLst>
                        <a:defRPr sz="1800">
                          <a:uFillTx/>
                        </a:defRPr>
                      </a:pPr>
                      <a:r>
                        <a:rPr lang="en-US" sz="1000" dirty="0">
                          <a:uFill>
                            <a:solidFill/>
                          </a:uFill>
                        </a:rPr>
                        <a:t>As a teacher I want to be able to share my classroom code, so that students can have access to my office hours schedule</a:t>
                      </a:r>
                      <a:endParaRPr sz="1000" dirty="0">
                        <a:uFill>
                          <a:solidFill/>
                        </a:uFill>
                      </a:endParaRPr>
                    </a:p>
                  </a:txBody>
                  <a:tcPr marL="38100" marR="38100" marT="38100" marB="38100" anchor="ctr" horzOverflow="overflow"/>
                </a:tc>
                <a:extLst>
                  <a:ext uri="{0D108BD9-81ED-4DB2-BD59-A6C34878D82A}">
                    <a16:rowId xmlns:a16="http://schemas.microsoft.com/office/drawing/2014/main" val="3862937774"/>
                  </a:ext>
                </a:extLst>
              </a:tr>
              <a:tr h="285080">
                <a:tc>
                  <a:txBody>
                    <a:bodyPr/>
                    <a:lstStyle/>
                    <a:p>
                      <a:pPr lvl="0" algn="ctr">
                        <a:tabLst>
                          <a:tab pos="914400" algn="l"/>
                        </a:tabLst>
                        <a:defRPr sz="2000">
                          <a:uFill>
                            <a:solidFill>
                              <a:srgbClr val="000000"/>
                            </a:solidFill>
                          </a:uFill>
                        </a:defRPr>
                      </a:pPr>
                      <a:r>
                        <a:rPr lang="en-US" sz="1000"/>
                        <a:t>7</a:t>
                      </a:r>
                      <a:endParaRPr sz="1000"/>
                    </a:p>
                  </a:txBody>
                  <a:tcPr marL="38100" marR="38100" marT="38100" marB="38100" anchor="ctr" horzOverflow="overflow"/>
                </a:tc>
                <a:tc>
                  <a:txBody>
                    <a:bodyPr/>
                    <a:lstStyle/>
                    <a:p>
                      <a:pPr lvl="0" algn="l">
                        <a:tabLst>
                          <a:tab pos="914400" algn="l"/>
                        </a:tabLst>
                        <a:defRPr sz="1800">
                          <a:uFillTx/>
                        </a:defRPr>
                      </a:pPr>
                      <a:r>
                        <a:rPr lang="en-US" sz="1000" dirty="0">
                          <a:uFill>
                            <a:solidFill/>
                          </a:uFill>
                        </a:rPr>
                        <a:t>As a student I want to be able to see the teacher's office hours, so that I can properly assign meeting times within the teacher’s office hours</a:t>
                      </a:r>
                      <a:endParaRPr sz="1000" dirty="0">
                        <a:uFill>
                          <a:solidFill/>
                        </a:uFill>
                      </a:endParaRPr>
                    </a:p>
                  </a:txBody>
                  <a:tcPr marL="38100" marR="38100" marT="38100" marB="38100" anchor="ctr" horzOverflow="overflow"/>
                </a:tc>
                <a:extLst>
                  <a:ext uri="{0D108BD9-81ED-4DB2-BD59-A6C34878D82A}">
                    <a16:rowId xmlns:a16="http://schemas.microsoft.com/office/drawing/2014/main" val="4287114499"/>
                  </a:ext>
                </a:extLst>
              </a:tr>
              <a:tr h="285080">
                <a:tc>
                  <a:txBody>
                    <a:bodyPr/>
                    <a:lstStyle/>
                    <a:p>
                      <a:pPr lvl="0" algn="ctr">
                        <a:tabLst>
                          <a:tab pos="914400" algn="l"/>
                        </a:tabLst>
                        <a:defRPr sz="2000">
                          <a:uFill>
                            <a:solidFill>
                              <a:srgbClr val="000000"/>
                            </a:solidFill>
                          </a:uFill>
                        </a:defRPr>
                      </a:pPr>
                      <a:r>
                        <a:rPr lang="en-US" sz="1000"/>
                        <a:t>8</a:t>
                      </a:r>
                      <a:endParaRPr sz="1000"/>
                    </a:p>
                  </a:txBody>
                  <a:tcPr marL="38100" marR="38100" marT="38100" marB="38100" anchor="ctr" horzOverflow="overflow"/>
                </a:tc>
                <a:tc>
                  <a:txBody>
                    <a:bodyPr/>
                    <a:lstStyle/>
                    <a:p>
                      <a:pPr lvl="0" algn="l">
                        <a:tabLst>
                          <a:tab pos="914400" algn="l"/>
                        </a:tabLst>
                        <a:defRPr sz="1800">
                          <a:uFillTx/>
                        </a:defRPr>
                      </a:pPr>
                      <a:r>
                        <a:rPr lang="en-US" sz="1000">
                          <a:uFill>
                            <a:solidFill/>
                          </a:uFill>
                        </a:rPr>
                        <a:t>As a student I want to be able to be able to specify whether the meeting is in-person or virtual, so that the teacher and I can discuss and create a team meeting</a:t>
                      </a:r>
                      <a:endParaRPr sz="1000">
                        <a:uFill>
                          <a:solidFill/>
                        </a:uFill>
                      </a:endParaRPr>
                    </a:p>
                  </a:txBody>
                  <a:tcPr marL="38100" marR="38100" marT="38100" marB="38100" anchor="ctr" horzOverflow="overflow"/>
                </a:tc>
                <a:extLst>
                  <a:ext uri="{0D108BD9-81ED-4DB2-BD59-A6C34878D82A}">
                    <a16:rowId xmlns:a16="http://schemas.microsoft.com/office/drawing/2014/main" val="577534318"/>
                  </a:ext>
                </a:extLst>
              </a:tr>
              <a:tr h="285080">
                <a:tc>
                  <a:txBody>
                    <a:bodyPr/>
                    <a:lstStyle/>
                    <a:p>
                      <a:pPr lvl="0" algn="ctr">
                        <a:tabLst>
                          <a:tab pos="914400" algn="l"/>
                        </a:tabLst>
                        <a:defRPr sz="2000">
                          <a:uFill>
                            <a:solidFill>
                              <a:srgbClr val="000000"/>
                            </a:solidFill>
                          </a:uFill>
                        </a:defRPr>
                      </a:pPr>
                      <a:r>
                        <a:rPr lang="en-US" sz="1000"/>
                        <a:t>9</a:t>
                      </a:r>
                      <a:endParaRPr sz="1000"/>
                    </a:p>
                  </a:txBody>
                  <a:tcPr marL="38100" marR="38100" marT="38100" marB="38100" anchor="ctr" horzOverflow="overflow"/>
                </a:tc>
                <a:tc>
                  <a:txBody>
                    <a:bodyPr/>
                    <a:lstStyle/>
                    <a:p>
                      <a:pPr lvl="0" algn="l">
                        <a:tabLst>
                          <a:tab pos="914400" algn="l"/>
                        </a:tabLst>
                        <a:defRPr sz="1800">
                          <a:uFillTx/>
                        </a:defRPr>
                      </a:pPr>
                      <a:r>
                        <a:rPr lang="en-US" sz="1000">
                          <a:uFill>
                            <a:solidFill/>
                          </a:uFill>
                        </a:rPr>
                        <a:t>As a teacher, I want to get a summary of my appointments for the day, so that I can see what I have for the day</a:t>
                      </a:r>
                      <a:endParaRPr sz="1000">
                        <a:uFill>
                          <a:solidFill/>
                        </a:uFill>
                      </a:endParaRPr>
                    </a:p>
                  </a:txBody>
                  <a:tcPr marL="38100" marR="38100" marT="38100" marB="38100" anchor="ctr" horzOverflow="overflow"/>
                </a:tc>
                <a:extLst>
                  <a:ext uri="{0D108BD9-81ED-4DB2-BD59-A6C34878D82A}">
                    <a16:rowId xmlns:a16="http://schemas.microsoft.com/office/drawing/2014/main" val="1732600649"/>
                  </a:ext>
                </a:extLst>
              </a:tr>
              <a:tr h="285080">
                <a:tc>
                  <a:txBody>
                    <a:bodyPr/>
                    <a:lstStyle/>
                    <a:p>
                      <a:pPr lvl="0" algn="ctr">
                        <a:tabLst>
                          <a:tab pos="914400" algn="l"/>
                        </a:tabLst>
                        <a:defRPr sz="2000">
                          <a:uFill>
                            <a:solidFill>
                              <a:srgbClr val="000000"/>
                            </a:solidFill>
                          </a:uFill>
                        </a:defRPr>
                      </a:pPr>
                      <a:r>
                        <a:rPr lang="en-US" sz="1000"/>
                        <a:t>10</a:t>
                      </a:r>
                      <a:endParaRPr sz="1000"/>
                    </a:p>
                  </a:txBody>
                  <a:tcPr marL="38100" marR="38100" marT="38100" marB="38100" anchor="ctr" horzOverflow="overflow"/>
                </a:tc>
                <a:tc>
                  <a:txBody>
                    <a:bodyPr/>
                    <a:lstStyle/>
                    <a:p>
                      <a:pPr lvl="0" algn="l">
                        <a:tabLst>
                          <a:tab pos="914400" algn="l"/>
                        </a:tabLst>
                        <a:defRPr sz="1800">
                          <a:uFillTx/>
                        </a:defRPr>
                      </a:pPr>
                      <a:r>
                        <a:rPr lang="en-US" sz="1000">
                          <a:uFill>
                            <a:solidFill/>
                          </a:uFill>
                        </a:rPr>
                        <a:t>As a teacher I want the system to recommend some time slots for office hours, so that I can easily see the best time slots</a:t>
                      </a:r>
                      <a:endParaRPr sz="1000">
                        <a:uFill>
                          <a:solidFill/>
                        </a:uFill>
                      </a:endParaRPr>
                    </a:p>
                  </a:txBody>
                  <a:tcPr marL="38100" marR="38100" marT="38100" marB="38100" anchor="ctr" horzOverflow="overflow"/>
                </a:tc>
                <a:extLst>
                  <a:ext uri="{0D108BD9-81ED-4DB2-BD59-A6C34878D82A}">
                    <a16:rowId xmlns:a16="http://schemas.microsoft.com/office/drawing/2014/main" val="1370552434"/>
                  </a:ext>
                </a:extLst>
              </a:tr>
              <a:tr h="285080">
                <a:tc>
                  <a:txBody>
                    <a:bodyPr/>
                    <a:lstStyle/>
                    <a:p>
                      <a:pPr lvl="0" algn="ctr">
                        <a:tabLst>
                          <a:tab pos="914400" algn="l"/>
                        </a:tabLst>
                        <a:defRPr sz="2000">
                          <a:uFill>
                            <a:solidFill>
                              <a:srgbClr val="000000"/>
                            </a:solidFill>
                          </a:uFill>
                        </a:defRPr>
                      </a:pPr>
                      <a:r>
                        <a:rPr lang="en-US" sz="1000"/>
                        <a:t>11</a:t>
                      </a:r>
                      <a:endParaRPr sz="1000"/>
                    </a:p>
                  </a:txBody>
                  <a:tcPr marL="38100" marR="38100" marT="38100" marB="38100" anchor="ctr" horzOverflow="overflow"/>
                </a:tc>
                <a:tc>
                  <a:txBody>
                    <a:bodyPr/>
                    <a:lstStyle/>
                    <a:p>
                      <a:pPr lvl="0" algn="l">
                        <a:tabLst>
                          <a:tab pos="914400" algn="l"/>
                        </a:tabLst>
                        <a:defRPr sz="1800">
                          <a:uFillTx/>
                        </a:defRPr>
                      </a:pPr>
                      <a:r>
                        <a:rPr lang="en-US" sz="1000">
                          <a:uFill>
                            <a:solidFill/>
                          </a:uFill>
                        </a:rPr>
                        <a:t>As a student I want to be able to know if the teacher is not able to go to the school, so that I can assess the best next possible time to have a meeting</a:t>
                      </a:r>
                      <a:endParaRPr sz="1000">
                        <a:uFill>
                          <a:solidFill/>
                        </a:uFill>
                      </a:endParaRPr>
                    </a:p>
                  </a:txBody>
                  <a:tcPr marL="38100" marR="38100" marT="38100" marB="38100" anchor="ctr" horzOverflow="overflow"/>
                </a:tc>
                <a:extLst>
                  <a:ext uri="{0D108BD9-81ED-4DB2-BD59-A6C34878D82A}">
                    <a16:rowId xmlns:a16="http://schemas.microsoft.com/office/drawing/2014/main" val="3102685637"/>
                  </a:ext>
                </a:extLst>
              </a:tr>
              <a:tr h="285080">
                <a:tc>
                  <a:txBody>
                    <a:bodyPr/>
                    <a:lstStyle/>
                    <a:p>
                      <a:pPr lvl="0" algn="ctr">
                        <a:tabLst>
                          <a:tab pos="914400" algn="l"/>
                        </a:tabLst>
                        <a:defRPr sz="2000">
                          <a:uFill>
                            <a:solidFill>
                              <a:srgbClr val="000000"/>
                            </a:solidFill>
                          </a:uFill>
                        </a:defRPr>
                      </a:pPr>
                      <a:r>
                        <a:rPr lang="en-US" sz="1000"/>
                        <a:t>12</a:t>
                      </a:r>
                      <a:endParaRPr sz="1000"/>
                    </a:p>
                  </a:txBody>
                  <a:tcPr marL="38100" marR="38100" marT="38100" marB="38100" anchor="ctr" horzOverflow="overflow"/>
                </a:tc>
                <a:tc>
                  <a:txBody>
                    <a:bodyPr/>
                    <a:lstStyle/>
                    <a:p>
                      <a:pPr lvl="0" algn="l">
                        <a:tabLst>
                          <a:tab pos="914400" algn="l"/>
                        </a:tabLst>
                        <a:defRPr sz="1800">
                          <a:uFillTx/>
                        </a:defRPr>
                      </a:pPr>
                      <a:r>
                        <a:rPr lang="en-US" sz="1000">
                          <a:uFill>
                            <a:solidFill/>
                          </a:uFill>
                        </a:rPr>
                        <a:t>As a user I want to be able to access the application from anywhere, so that I can book/see my office hours from anywhere</a:t>
                      </a:r>
                      <a:endParaRPr sz="1000">
                        <a:uFill>
                          <a:solidFill/>
                        </a:uFill>
                      </a:endParaRPr>
                    </a:p>
                  </a:txBody>
                  <a:tcPr marL="38100" marR="38100" marT="38100" marB="38100" anchor="ctr" horzOverflow="overflow"/>
                </a:tc>
                <a:extLst>
                  <a:ext uri="{0D108BD9-81ED-4DB2-BD59-A6C34878D82A}">
                    <a16:rowId xmlns:a16="http://schemas.microsoft.com/office/drawing/2014/main" val="731046406"/>
                  </a:ext>
                </a:extLst>
              </a:tr>
              <a:tr h="317871">
                <a:tc>
                  <a:txBody>
                    <a:bodyPr/>
                    <a:lstStyle/>
                    <a:p>
                      <a:pPr lvl="0" algn="ctr">
                        <a:tabLst>
                          <a:tab pos="914400" algn="l"/>
                        </a:tabLst>
                        <a:defRPr sz="2000">
                          <a:uFill>
                            <a:solidFill>
                              <a:srgbClr val="000000"/>
                            </a:solidFill>
                          </a:uFill>
                        </a:defRPr>
                      </a:pPr>
                      <a:r>
                        <a:rPr lang="en-US" sz="1000"/>
                        <a:t>13</a:t>
                      </a:r>
                      <a:endParaRPr sz="1000"/>
                    </a:p>
                  </a:txBody>
                  <a:tcPr marL="38100" marR="38100" marT="38100" marB="38100" anchor="ctr" horzOverflow="overflow"/>
                </a:tc>
                <a:tc>
                  <a:txBody>
                    <a:bodyPr/>
                    <a:lstStyle/>
                    <a:p>
                      <a:pPr lvl="0" algn="l">
                        <a:tabLst>
                          <a:tab pos="914400" algn="l"/>
                        </a:tabLst>
                        <a:defRPr sz="1800">
                          <a:uFillTx/>
                        </a:defRPr>
                      </a:pPr>
                      <a:r>
                        <a:rPr lang="en-US" sz="1000" dirty="0">
                          <a:uFill>
                            <a:solidFill/>
                          </a:uFill>
                        </a:rPr>
                        <a:t>As a teacher I want to be able to have an away from office status, so that students know I am away right now</a:t>
                      </a:r>
                      <a:endParaRPr sz="1000" dirty="0">
                        <a:uFill>
                          <a:solidFill/>
                        </a:uFill>
                      </a:endParaRPr>
                    </a:p>
                  </a:txBody>
                  <a:tcPr marL="38100" marR="38100" marT="38100" marB="38100" anchor="ctr" horzOverflow="overflow"/>
                </a:tc>
                <a:extLst>
                  <a:ext uri="{0D108BD9-81ED-4DB2-BD59-A6C34878D82A}">
                    <a16:rowId xmlns:a16="http://schemas.microsoft.com/office/drawing/2014/main" val="437018280"/>
                  </a:ext>
                </a:extLst>
              </a:tr>
              <a:tr h="285080">
                <a:tc>
                  <a:txBody>
                    <a:bodyPr/>
                    <a:lstStyle/>
                    <a:p>
                      <a:pPr lvl="0" algn="ctr">
                        <a:tabLst>
                          <a:tab pos="914400" algn="l"/>
                        </a:tabLst>
                        <a:defRPr sz="2000">
                          <a:uFill>
                            <a:solidFill>
                              <a:srgbClr val="000000"/>
                            </a:solidFill>
                          </a:uFill>
                        </a:defRPr>
                      </a:pPr>
                      <a:r>
                        <a:rPr lang="en-US" sz="1000"/>
                        <a:t>14</a:t>
                      </a:r>
                      <a:endParaRPr sz="1000"/>
                    </a:p>
                  </a:txBody>
                  <a:tcPr marL="38100" marR="38100" marT="38100" marB="38100" anchor="ctr" horzOverflow="overflow"/>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914400" algn="l"/>
                        </a:tabLst>
                        <a:defRPr sz="1800">
                          <a:uFillTx/>
                        </a:defRPr>
                      </a:pPr>
                      <a:r>
                        <a:rPr lang="en-US" sz="1000" dirty="0">
                          <a:uFill>
                            <a:solidFill/>
                          </a:uFill>
                        </a:rPr>
                        <a:t>As a student I want to be able to give a meeting description and be able to attach a file, so that I can give greater context to the teacher</a:t>
                      </a:r>
                    </a:p>
                  </a:txBody>
                  <a:tcPr marL="38100" marR="38100" marT="38100" marB="38100" anchor="ctr" horzOverflow="overflow"/>
                </a:tc>
                <a:extLst>
                  <a:ext uri="{0D108BD9-81ED-4DB2-BD59-A6C34878D82A}">
                    <a16:rowId xmlns:a16="http://schemas.microsoft.com/office/drawing/2014/main" val="2980758336"/>
                  </a:ext>
                </a:extLst>
              </a:tr>
              <a:tr h="285080">
                <a:tc>
                  <a:txBody>
                    <a:bodyPr/>
                    <a:lstStyle/>
                    <a:p>
                      <a:pPr lvl="0" algn="ctr">
                        <a:tabLst>
                          <a:tab pos="914400" algn="l"/>
                        </a:tabLst>
                        <a:defRPr sz="2000">
                          <a:uFill>
                            <a:solidFill>
                              <a:srgbClr val="000000"/>
                            </a:solidFill>
                          </a:uFill>
                        </a:defRPr>
                      </a:pPr>
                      <a:r>
                        <a:rPr lang="en-US" sz="1000"/>
                        <a:t>15</a:t>
                      </a:r>
                      <a:endParaRPr sz="1000"/>
                    </a:p>
                  </a:txBody>
                  <a:tcPr marL="38100" marR="38100" marT="38100" marB="38100" anchor="ctr" horzOverflow="overflow"/>
                </a:tc>
                <a:tc>
                  <a:txBody>
                    <a:bodyPr/>
                    <a:lstStyle/>
                    <a:p>
                      <a:pPr marL="0" marR="0" lvl="0" indent="0" algn="l" defTabSz="914400" eaLnBrk="1" fontAlgn="auto" latinLnBrk="0" hangingPunct="1">
                        <a:lnSpc>
                          <a:spcPct val="100000"/>
                        </a:lnSpc>
                        <a:spcBef>
                          <a:spcPts val="0"/>
                        </a:spcBef>
                        <a:spcAft>
                          <a:spcPts val="0"/>
                        </a:spcAft>
                        <a:buClrTx/>
                        <a:buSzTx/>
                        <a:buFontTx/>
                        <a:buNone/>
                        <a:tabLst>
                          <a:tab pos="914400" algn="l"/>
                        </a:tabLst>
                        <a:defRPr sz="1800">
                          <a:uFillTx/>
                        </a:defRPr>
                      </a:pPr>
                      <a:r>
                        <a:rPr lang="en-US" sz="1000" dirty="0">
                          <a:uFill>
                            <a:solidFill/>
                          </a:uFill>
                        </a:rPr>
                        <a:t>***Outstanding As a teacher I would like to have to ability to have two concurring event display in my personal calendar </a:t>
                      </a:r>
                    </a:p>
                  </a:txBody>
                  <a:tcPr marL="38100" marR="38100" marT="38100" marB="38100" anchor="ctr" horzOverflow="overflow"/>
                </a:tc>
                <a:extLst>
                  <a:ext uri="{0D108BD9-81ED-4DB2-BD59-A6C34878D82A}">
                    <a16:rowId xmlns:a16="http://schemas.microsoft.com/office/drawing/2014/main" val="2152373741"/>
                  </a:ext>
                </a:extLst>
              </a:tr>
            </a:tbl>
          </a:graphicData>
        </a:graphic>
      </p:graphicFrame>
    </p:spTree>
    <p:extLst>
      <p:ext uri="{BB962C8B-B14F-4D97-AF65-F5344CB8AC3E}">
        <p14:creationId xmlns:p14="http://schemas.microsoft.com/office/powerpoint/2010/main" val="1115606991"/>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Calibri"/>
        <a:ea typeface="Calibri"/>
        <a:cs typeface="Calibri"/>
      </a:majorFont>
      <a:minorFont>
        <a:latin typeface="Calibri"/>
        <a:ea typeface="Calibri"/>
        <a:cs typeface="Calibri"/>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Calibri"/>
        <a:ea typeface="Calibri"/>
        <a:cs typeface="Calibri"/>
      </a:majorFont>
      <a:minorFont>
        <a:latin typeface="Calibri"/>
        <a:ea typeface="Calibri"/>
        <a:cs typeface="Calibri"/>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1354</Words>
  <Application>Microsoft Office PowerPoint</Application>
  <PresentationFormat>On-screen Show (4:3)</PresentationFormat>
  <Paragraphs>158</Paragraphs>
  <Slides>10</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White</vt:lpstr>
      <vt:lpstr>Office Hours Management System (OHMS)</vt:lpstr>
      <vt:lpstr>The elevator pitch</vt:lpstr>
      <vt:lpstr>System context</vt:lpstr>
      <vt:lpstr>Use Case Diagram</vt:lpstr>
      <vt:lpstr>The NOT list</vt:lpstr>
      <vt:lpstr>Technical solution</vt:lpstr>
      <vt:lpstr>What keeps us up at night</vt:lpstr>
      <vt:lpstr>How big is this thing?</vt:lpstr>
      <vt:lpstr>Trade-off sliders</vt:lpstr>
      <vt:lpstr>User Stories Priorities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Agile Inception Deck </dc:title>
  <dc:creator>Turanyi Susan</dc:creator>
  <cp:lastModifiedBy>Falasconi, Matteo</cp:lastModifiedBy>
  <cp:revision>5</cp:revision>
  <dcterms:modified xsi:type="dcterms:W3CDTF">2024-11-08T04:36:25Z</dcterms:modified>
</cp:coreProperties>
</file>